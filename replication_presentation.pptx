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sldIdLst>
    <p:sldId id="257" r:id="rId2"/>
    <p:sldId id="258" r:id="rId3"/>
    <p:sldId id="263" r:id="rId4"/>
    <p:sldId id="264" r:id="rId5"/>
    <p:sldId id="265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52863"/>
  </p:normalViewPr>
  <p:slideViewPr>
    <p:cSldViewPr snapToGrid="0">
      <p:cViewPr varScale="1">
        <p:scale>
          <a:sx n="113" d="100"/>
          <a:sy n="113" d="100"/>
        </p:scale>
        <p:origin x="4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7E69F3-E01A-734C-B9F4-76F16FAF78EC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4EB9-60C9-1641-9311-3E3AA9FE5E9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29973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do you think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233225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what Michael Thaler asked himself when conducting his study, published in the Paper Good News….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 asked Do people engage…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how did he test it ?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90385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 asked participants questions like this one and then asked for their </a:t>
            </a:r>
            <a:r>
              <a:rPr lang="en-GB" b="1" dirty="0"/>
              <a:t>median belief</a:t>
            </a:r>
            <a:r>
              <a:rPr lang="en-GB" dirty="0"/>
              <a:t> (50/50 point)</a:t>
            </a:r>
          </a:p>
          <a:p>
            <a:endParaRPr lang="en-GB" dirty="0"/>
          </a:p>
          <a:p>
            <a:r>
              <a:rPr lang="en-GB" dirty="0"/>
              <a:t>As motivation they got paid using incentive-compatible scoring system that rewarded right answers</a:t>
            </a:r>
          </a:p>
          <a:p>
            <a:endParaRPr lang="en-GB" dirty="0"/>
          </a:p>
          <a:p>
            <a:r>
              <a:rPr lang="en-GB" dirty="0"/>
              <a:t>After the question they got a feedback…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48018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feedback was a news article that was either True or False and was either telling them that in reality the value was lower than or higher than they estimated</a:t>
            </a:r>
          </a:p>
          <a:p>
            <a:endParaRPr lang="en-GB" dirty="0"/>
          </a:p>
          <a:p>
            <a:r>
              <a:rPr lang="en-GB" dirty="0"/>
              <a:t>Depending on the question this was coded as good or bad news ( in our case Higher would be good news </a:t>
            </a:r>
          </a:p>
          <a:p>
            <a:endParaRPr lang="en-GB" dirty="0"/>
          </a:p>
          <a:p>
            <a:r>
              <a:rPr lang="en-GB" dirty="0"/>
              <a:t>After the news..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533801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F11E-36D8-F5F1-53C0-A98CEDFF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A4C02-A96E-27FB-B11B-66622033F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721A4-5340-0204-0B1E-2B8AC62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They had to rate “How likely is it that this message came from the True News source?” on a scale of 1-10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Main Dependent Variable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6A758-E7E9-0F84-B336-B554C2B44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51883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 quite a complicated setup to do what exactly ?</a:t>
            </a:r>
          </a:p>
          <a:p>
            <a:r>
              <a:rPr lang="en-GB" dirty="0"/>
              <a:t>The Goal was to test whether </a:t>
            </a:r>
            <a:r>
              <a:rPr lang="en-GB" b="1" dirty="0"/>
              <a:t>“good news” alone</a:t>
            </a:r>
            <a:r>
              <a:rPr lang="en-GB" dirty="0"/>
              <a:t> causes motivated reasoning, </a:t>
            </a:r>
            <a:r>
              <a:rPr lang="en-GB" i="1" dirty="0"/>
              <a:t>independent</a:t>
            </a:r>
            <a:r>
              <a:rPr lang="en-GB" dirty="0"/>
              <a:t> of: self-image, political identity, incentives and functional usefulness of beliefs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4822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11298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28477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23289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69174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73412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2973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0132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60781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28875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01208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861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77155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85438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347387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BD5F6A-98F1-DB53-F564-A37731452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and gray head with different symbols&#10;&#10;AI-generated content may be incorrect.">
            <a:extLst>
              <a:ext uri="{FF2B5EF4-FFF2-40B4-BE49-F238E27FC236}">
                <a16:creationId xmlns:a16="http://schemas.microsoft.com/office/drawing/2014/main" id="{97086B5C-E821-1CEF-29A9-B3393DC77A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</a:blip>
          <a:srcRect t="13279" b="245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953337-8C2A-46D6-1932-726DD8BF2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965200"/>
            <a:ext cx="10261600" cy="3564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>
                <a:ln w="22225">
                  <a:solidFill>
                    <a:schemeClr val="tx1"/>
                  </a:solidFill>
                  <a:miter lim="800000"/>
                </a:ln>
                <a:noFill/>
              </a:rPr>
              <a:t>Trusting the Good News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26B382-EAB5-48AD-A7BA-B20D5A820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4572002"/>
            <a:ext cx="10261600" cy="120299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3200"/>
              <a:t>What do you think, do you trust good news more than bad news ? </a:t>
            </a:r>
          </a:p>
        </p:txBody>
      </p:sp>
    </p:spTree>
    <p:extLst>
      <p:ext uri="{BB962C8B-B14F-4D97-AF65-F5344CB8AC3E}">
        <p14:creationId xmlns:p14="http://schemas.microsoft.com/office/powerpoint/2010/main" val="2920465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D0742-C6AC-65E3-8E52-3B63604D3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DFDE5-A35C-7E72-3E72-3CEC4081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Research Question Details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388EC-D55D-4AD8-5804-61D6405B17EC}"/>
              </a:ext>
            </a:extLst>
          </p:cNvPr>
          <p:cNvSpPr txBox="1"/>
          <p:nvPr/>
        </p:nvSpPr>
        <p:spPr>
          <a:xfrm>
            <a:off x="1408289" y="2644170"/>
            <a:ext cx="93754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i="1" dirty="0"/>
              <a:t>Do people engage in motivated reasoning just because news is “good” rather than “bad,” when ego, identity, and functional incentives are stripped away?</a:t>
            </a:r>
            <a:endParaRPr lang="en-DE" sz="2400" i="1" dirty="0"/>
          </a:p>
          <a:p>
            <a:endParaRPr lang="en-DE" sz="2400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71385-FDF7-99A2-ACFD-96BF33753B5C}"/>
              </a:ext>
            </a:extLst>
          </p:cNvPr>
          <p:cNvSpPr txBox="1"/>
          <p:nvPr/>
        </p:nvSpPr>
        <p:spPr>
          <a:xfrm>
            <a:off x="4955823" y="6185098"/>
            <a:ext cx="72361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Good News Is Not a Sufficient Condition for Motivated Reasoning (M. Thaler,  2025)</a:t>
            </a:r>
          </a:p>
        </p:txBody>
      </p:sp>
    </p:spTree>
    <p:extLst>
      <p:ext uri="{BB962C8B-B14F-4D97-AF65-F5344CB8AC3E}">
        <p14:creationId xmlns:p14="http://schemas.microsoft.com/office/powerpoint/2010/main" val="1185796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AB24A-EE79-A811-445F-90F4A186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Question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CFA646-49FC-77E3-C156-FA9CAEA62E46}"/>
              </a:ext>
            </a:extLst>
          </p:cNvPr>
          <p:cNvSpPr txBox="1"/>
          <p:nvPr/>
        </p:nvSpPr>
        <p:spPr>
          <a:xfrm>
            <a:off x="2030496" y="2274838"/>
            <a:ext cx="813100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Acute Myeloid </a:t>
            </a:r>
            <a:r>
              <a:rPr lang="en-GB" i="1" dirty="0" err="1"/>
              <a:t>Leukemia</a:t>
            </a:r>
            <a:r>
              <a:rPr lang="en-GB" i="1" dirty="0"/>
              <a:t> (AML) is a devastating illness in which cancerous cells</a:t>
            </a:r>
          </a:p>
          <a:p>
            <a:r>
              <a:rPr lang="en-GB" i="1" dirty="0"/>
              <a:t>emerge in the bone marrow, invade the blood stream, and may spread to the rest</a:t>
            </a:r>
          </a:p>
          <a:p>
            <a:r>
              <a:rPr lang="en-GB" i="1" dirty="0"/>
              <a:t>of the body. Tragically, hundreds to thousands of children under the age of 15</a:t>
            </a:r>
          </a:p>
          <a:p>
            <a:r>
              <a:rPr lang="en-GB" i="1" dirty="0"/>
              <a:t>are diagnosed with AML each year; it is one of the most common cancers among</a:t>
            </a:r>
          </a:p>
          <a:p>
            <a:r>
              <a:rPr lang="en-GB" i="1" dirty="0"/>
              <a:t>children.</a:t>
            </a:r>
          </a:p>
          <a:p>
            <a:r>
              <a:rPr lang="en-GB" i="1" dirty="0"/>
              <a:t>Of children under the age of 15 who are diagnosed with AML, what percent</a:t>
            </a:r>
          </a:p>
          <a:p>
            <a:r>
              <a:rPr lang="en-GB" i="1" dirty="0"/>
              <a:t>survive for at least 5 years?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97113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9A0AF-4F5D-9CE7-6B99-4F10E9413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Feedback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9D0AB3-DD8A-BD1E-919B-D3F83DC9DE85}"/>
              </a:ext>
            </a:extLst>
          </p:cNvPr>
          <p:cNvSpPr txBox="1"/>
          <p:nvPr/>
        </p:nvSpPr>
        <p:spPr>
          <a:xfrm>
            <a:off x="1704622" y="2460978"/>
            <a:ext cx="5681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Good News – Actually the value is higher as you thought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E547A7-DCB0-FA68-6179-3792416F1D07}"/>
              </a:ext>
            </a:extLst>
          </p:cNvPr>
          <p:cNvSpPr txBox="1"/>
          <p:nvPr/>
        </p:nvSpPr>
        <p:spPr>
          <a:xfrm>
            <a:off x="5125156" y="3843025"/>
            <a:ext cx="5455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Bad News – Actually the value is lower as you thought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90FF86-8BC8-5C62-01D7-B671F5D92206}"/>
              </a:ext>
            </a:extLst>
          </p:cNvPr>
          <p:cNvSpPr txBox="1"/>
          <p:nvPr/>
        </p:nvSpPr>
        <p:spPr>
          <a:xfrm>
            <a:off x="4878934" y="3206003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036046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C8C8-1470-42EB-7490-FA06176E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A228-DD58-13AE-21D5-637DFF814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Guessing  Probability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A57204-5309-CE49-2D93-074E769A6DBB}"/>
              </a:ext>
            </a:extLst>
          </p:cNvPr>
          <p:cNvSpPr txBox="1"/>
          <p:nvPr/>
        </p:nvSpPr>
        <p:spPr>
          <a:xfrm>
            <a:off x="1749777" y="3059668"/>
            <a:ext cx="5817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How likely is it that the message came from a true news 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13871C-3E21-6422-4F48-23B2794DA956}"/>
              </a:ext>
            </a:extLst>
          </p:cNvPr>
          <p:cNvCxnSpPr/>
          <p:nvPr/>
        </p:nvCxnSpPr>
        <p:spPr>
          <a:xfrm>
            <a:off x="2269067" y="4014801"/>
            <a:ext cx="72023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EACB8-013F-A569-6B0E-0E2F73AEAB22}"/>
              </a:ext>
            </a:extLst>
          </p:cNvPr>
          <p:cNvCxnSpPr/>
          <p:nvPr/>
        </p:nvCxnSpPr>
        <p:spPr>
          <a:xfrm>
            <a:off x="2269067" y="3800312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559EB6-9D6E-C180-FF11-9D7E88D00188}"/>
              </a:ext>
            </a:extLst>
          </p:cNvPr>
          <p:cNvCxnSpPr/>
          <p:nvPr/>
        </p:nvCxnSpPr>
        <p:spPr>
          <a:xfrm>
            <a:off x="9465734" y="3822890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9AB1CC-B806-F767-95BB-3DCC5F554107}"/>
              </a:ext>
            </a:extLst>
          </p:cNvPr>
          <p:cNvSpPr txBox="1"/>
          <p:nvPr/>
        </p:nvSpPr>
        <p:spPr>
          <a:xfrm>
            <a:off x="2115018" y="437604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701A-3C8F-A2B4-6DA8-85F5F16BC6FB}"/>
              </a:ext>
            </a:extLst>
          </p:cNvPr>
          <p:cNvSpPr txBox="1"/>
          <p:nvPr/>
        </p:nvSpPr>
        <p:spPr>
          <a:xfrm>
            <a:off x="9249970" y="437604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10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7359F9F-A3C6-3DA3-F436-BF43B2936921}"/>
              </a:ext>
            </a:extLst>
          </p:cNvPr>
          <p:cNvSpPr/>
          <p:nvPr/>
        </p:nvSpPr>
        <p:spPr>
          <a:xfrm>
            <a:off x="6006311" y="3924801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7039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2473-A072-CAE6-FE52-25806EDE1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8EFBC-BB83-11D7-BB83-7DEFB176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Experiment Setup Explain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E206E-CC1A-6692-A831-D882224EB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&gt;6,000 observations</a:t>
            </a:r>
          </a:p>
          <a:p>
            <a:r>
              <a:rPr lang="en-GB" dirty="0"/>
              <a:t>~1,900 participant</a:t>
            </a:r>
          </a:p>
          <a:p>
            <a:r>
              <a:rPr lang="en-GB" dirty="0"/>
              <a:t>3 Waves</a:t>
            </a:r>
          </a:p>
          <a:p>
            <a:endParaRPr lang="en-GB" dirty="0"/>
          </a:p>
          <a:p>
            <a:endParaRPr lang="en-GB" dirty="0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5300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AAC0D-56F0-AA04-0C76-90BD1127A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300CC-34E6-3D60-452F-2E3DAAA23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Repitition Results Regression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0EF6BD-B402-44FB-D57E-1BE3E5B7E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We tried to replicate the results with the original data </a:t>
            </a:r>
          </a:p>
          <a:p>
            <a:r>
              <a:rPr lang="en-DE" dirty="0"/>
              <a:t>We only used wave 1, due to the complexity</a:t>
            </a:r>
          </a:p>
          <a:p>
            <a:r>
              <a:rPr lang="en-DE" dirty="0"/>
              <a:t>Out results show that…</a:t>
            </a:r>
          </a:p>
        </p:txBody>
      </p:sp>
    </p:spTree>
    <p:extLst>
      <p:ext uri="{BB962C8B-B14F-4D97-AF65-F5344CB8AC3E}">
        <p14:creationId xmlns:p14="http://schemas.microsoft.com/office/powerpoint/2010/main" val="2752798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3A6D6-2AD1-4298-61F8-7C7CB36CD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CFDF1-BD49-E4E1-D114-B8BB62B10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Extension Results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6C0218-8B0A-CB4E-3B56-F649F553E4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After replication we tried to extend the experiment by…</a:t>
            </a:r>
          </a:p>
        </p:txBody>
      </p:sp>
    </p:spTree>
    <p:extLst>
      <p:ext uri="{BB962C8B-B14F-4D97-AF65-F5344CB8AC3E}">
        <p14:creationId xmlns:p14="http://schemas.microsoft.com/office/powerpoint/2010/main" val="2239823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38F16-A74B-D157-7A79-31BC30588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86B3-B22A-C475-B8C6-4B02A5EBA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Verdict &amp; Hypothesis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BA40C-CD97-B539-5821-26C7CFB80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We see that people do not engage in motivated reasoning when receiving good news, they hold their beliefs  </a:t>
            </a:r>
          </a:p>
        </p:txBody>
      </p:sp>
    </p:spTree>
    <p:extLst>
      <p:ext uri="{BB962C8B-B14F-4D97-AF65-F5344CB8AC3E}">
        <p14:creationId xmlns:p14="http://schemas.microsoft.com/office/powerpoint/2010/main" val="330628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</TotalTime>
  <Words>478</Words>
  <Application>Microsoft Macintosh PowerPoint</Application>
  <PresentationFormat>Widescreen</PresentationFormat>
  <Paragraphs>59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Trusting the Good News</vt:lpstr>
      <vt:lpstr>Research Question Details</vt:lpstr>
      <vt:lpstr>Question</vt:lpstr>
      <vt:lpstr>Feedback</vt:lpstr>
      <vt:lpstr>Guessing  Probability</vt:lpstr>
      <vt:lpstr>Experiment Setup Explain</vt:lpstr>
      <vt:lpstr>Repitition Results Regression</vt:lpstr>
      <vt:lpstr>Extension Results</vt:lpstr>
      <vt:lpstr>Verdict &amp; Hypothesis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Lehé</dc:creator>
  <cp:lastModifiedBy>Manuel Lehé</cp:lastModifiedBy>
  <cp:revision>5</cp:revision>
  <dcterms:created xsi:type="dcterms:W3CDTF">2026-01-28T18:21:55Z</dcterms:created>
  <dcterms:modified xsi:type="dcterms:W3CDTF">2026-01-28T19:20:59Z</dcterms:modified>
</cp:coreProperties>
</file>