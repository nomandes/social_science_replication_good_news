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3" r:id="rId6"/>
    <p:sldId id="264" r:id="rId7"/>
    <p:sldId id="265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9"/>
    <p:restoredTop sz="52863"/>
  </p:normalViewPr>
  <p:slideViewPr>
    <p:cSldViewPr snapToGrid="0">
      <p:cViewPr varScale="1">
        <p:scale>
          <a:sx n="113" d="100"/>
          <a:sy n="113" d="100"/>
        </p:scale>
        <p:origin x="490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7E69F3-E01A-734C-B9F4-76F16FAF78EC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DE4EB9-60C9-1641-9311-3E3AA9FE5E93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3299739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Goal</a:t>
            </a:r>
          </a:p>
          <a:p>
            <a:r>
              <a:rPr lang="en-GB" dirty="0"/>
              <a:t>----</a:t>
            </a:r>
          </a:p>
          <a:p>
            <a:r>
              <a:rPr lang="en-GB" dirty="0"/>
              <a:t>Test whether </a:t>
            </a:r>
            <a:r>
              <a:rPr lang="en-GB" b="1" dirty="0"/>
              <a:t>“good news” alone</a:t>
            </a:r>
            <a:r>
              <a:rPr lang="en-GB" dirty="0"/>
              <a:t> causes motivated reasoning, </a:t>
            </a:r>
            <a:r>
              <a:rPr lang="en-GB" i="1" dirty="0"/>
              <a:t>independent</a:t>
            </a:r>
            <a:r>
              <a:rPr lang="en-GB" dirty="0"/>
              <a:t> of:</a:t>
            </a:r>
          </a:p>
          <a:p>
            <a:r>
              <a:rPr lang="en-GB" dirty="0"/>
              <a:t>self-image</a:t>
            </a:r>
          </a:p>
          <a:p>
            <a:r>
              <a:rPr lang="en-GB" dirty="0"/>
              <a:t>political identity</a:t>
            </a:r>
          </a:p>
          <a:p>
            <a:r>
              <a:rPr lang="en-GB" dirty="0"/>
              <a:t>incentives</a:t>
            </a:r>
          </a:p>
          <a:p>
            <a:r>
              <a:rPr lang="en-GB" dirty="0"/>
              <a:t>functional usefulness of beliefs</a:t>
            </a:r>
          </a:p>
          <a:p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748223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6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533801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3F11E-36D8-F5F1-53C0-A98CEDFF5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2A4C02-A96E-27FB-B11B-66622033FF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F721A4-5340-0204-0B1E-2B8AC62B98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46A758-E7E9-0F84-B336-B554C2B44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DE4EB9-60C9-1641-9311-3E3AA9FE5E93}" type="slidenum">
              <a:rPr lang="en-DE" smtClean="0"/>
              <a:t>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45188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4232899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69174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734124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92973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501327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60781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288753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01208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9786106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677155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85438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A4084EF6-DEF1-E94D-B390-E1846AA13E25}" type="datetimeFigureOut">
              <a:rPr lang="en-DE" smtClean="0"/>
              <a:t>28.01.26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B7332843-5F14-C94D-AB0E-E44EECA838C1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347387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00C4A-FAA4-8B2C-E7B6-A2433C2DEE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DE" dirty="0"/>
              <a:t>Trust me Bro - Good News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422959-CF89-0026-A3F2-27FA3A362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946984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D5F6A-98F1-DB53-F564-A37731452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53337-8C2A-46D6-1932-726DD8BF23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Trusting the Good News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26B382-EAB5-48AD-A7BA-B20D5A8200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DE" dirty="0"/>
              <a:t>What do you think, do you trust good news more than bad news ? </a:t>
            </a:r>
          </a:p>
        </p:txBody>
      </p:sp>
    </p:spTree>
    <p:extLst>
      <p:ext uri="{BB962C8B-B14F-4D97-AF65-F5344CB8AC3E}">
        <p14:creationId xmlns:p14="http://schemas.microsoft.com/office/powerpoint/2010/main" val="29204652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D0742-C6AC-65E3-8E52-3B63604D30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DFDE5-A35C-7E72-3E72-3CEC4081D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Research Question Details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2B8A32-3722-88E1-782F-94F3AB066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Do people engage in motivated reasoning just because news is “good” rather than “bad,” when ego, identity, and functional incentives are stripped away?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1857966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82473-A072-CAE6-FE52-25806EDE1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8EFBC-BB83-11D7-BB83-7DEFB176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Experiment Setup Explain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3E206E-CC1A-6692-A831-D882224EB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&gt;6,000 observations from ~1,900 participants across multiple experiments</a:t>
            </a:r>
          </a:p>
          <a:p>
            <a:r>
              <a:rPr lang="en-GB" dirty="0"/>
              <a:t>Participants answer factual questions (e.g., cancer survival rates, poverty levels) and are  then asked for their </a:t>
            </a:r>
            <a:r>
              <a:rPr lang="en-GB" b="1" dirty="0"/>
              <a:t>median belief</a:t>
            </a:r>
            <a:r>
              <a:rPr lang="en-GB" dirty="0"/>
              <a:t> (50/50 point).They get paid using incentive-compatible scoring.</a:t>
            </a:r>
          </a:p>
          <a:p>
            <a:r>
              <a:rPr lang="en-GB" dirty="0"/>
              <a:t>Participants then see a message from one of two sources:</a:t>
            </a:r>
          </a:p>
          <a:p>
            <a:pPr lvl="1"/>
            <a:r>
              <a:rPr lang="en-GB" b="1" dirty="0"/>
              <a:t>True News</a:t>
            </a:r>
            <a:r>
              <a:rPr lang="en-GB" dirty="0"/>
              <a:t> (always correct)</a:t>
            </a:r>
          </a:p>
          <a:p>
            <a:pPr lvl="1"/>
            <a:r>
              <a:rPr lang="en-GB" b="1" dirty="0"/>
              <a:t>False News</a:t>
            </a:r>
            <a:r>
              <a:rPr lang="en-GB" dirty="0"/>
              <a:t> (always incorrect)</a:t>
            </a:r>
          </a:p>
          <a:p>
            <a:r>
              <a:rPr lang="en-GB" dirty="0"/>
              <a:t>They than rate “How likely is it that this message came from the True News source?” – Main Dependent Variable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635300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AB24A-EE79-A811-445F-90F4A186E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Question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CFA646-49FC-77E3-C156-FA9CAEA62E46}"/>
              </a:ext>
            </a:extLst>
          </p:cNvPr>
          <p:cNvSpPr txBox="1"/>
          <p:nvPr/>
        </p:nvSpPr>
        <p:spPr>
          <a:xfrm>
            <a:off x="2030496" y="2898422"/>
            <a:ext cx="813100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Acute Myeloid </a:t>
            </a:r>
            <a:r>
              <a:rPr lang="en-GB" i="1" dirty="0" err="1"/>
              <a:t>Leukemia</a:t>
            </a:r>
            <a:r>
              <a:rPr lang="en-GB" i="1" dirty="0"/>
              <a:t> (AML) is a devastating illness in which cancerous cells</a:t>
            </a:r>
          </a:p>
          <a:p>
            <a:r>
              <a:rPr lang="en-GB" i="1" dirty="0"/>
              <a:t>emerge in the bone marrow, invade the blood stream, and may spread to the rest</a:t>
            </a:r>
          </a:p>
          <a:p>
            <a:r>
              <a:rPr lang="en-GB" i="1" dirty="0"/>
              <a:t>of the body. Tragically, hundreds to thousands of children under the age of 15</a:t>
            </a:r>
          </a:p>
          <a:p>
            <a:r>
              <a:rPr lang="en-GB" i="1" dirty="0"/>
              <a:t>are diagnosed with AML each year; it is one of the most common cancers among</a:t>
            </a:r>
          </a:p>
          <a:p>
            <a:r>
              <a:rPr lang="en-GB" i="1" dirty="0"/>
              <a:t>children.</a:t>
            </a:r>
          </a:p>
          <a:p>
            <a:r>
              <a:rPr lang="en-GB" i="1" dirty="0"/>
              <a:t>Of children under the age of 15 who are diagnosed with AML, what percent</a:t>
            </a:r>
          </a:p>
          <a:p>
            <a:r>
              <a:rPr lang="en-GB" i="1" dirty="0"/>
              <a:t>survive for at least 5 years?</a:t>
            </a:r>
          </a:p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971134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9A0AF-4F5D-9CE7-6B99-4F10E9413E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9D0AB3-DD8A-BD1E-919B-D3F83DC9DE85}"/>
              </a:ext>
            </a:extLst>
          </p:cNvPr>
          <p:cNvSpPr txBox="1"/>
          <p:nvPr/>
        </p:nvSpPr>
        <p:spPr>
          <a:xfrm>
            <a:off x="1704622" y="2460978"/>
            <a:ext cx="5681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Good News – Actually the value is higher as you thought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E547A7-DCB0-FA68-6179-3792416F1D07}"/>
              </a:ext>
            </a:extLst>
          </p:cNvPr>
          <p:cNvSpPr txBox="1"/>
          <p:nvPr/>
        </p:nvSpPr>
        <p:spPr>
          <a:xfrm>
            <a:off x="5125156" y="3843025"/>
            <a:ext cx="5455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Bad News – Actually the value is lower as you thought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90FF86-8BC8-5C62-01D7-B671F5D92206}"/>
              </a:ext>
            </a:extLst>
          </p:cNvPr>
          <p:cNvSpPr txBox="1"/>
          <p:nvPr/>
        </p:nvSpPr>
        <p:spPr>
          <a:xfrm>
            <a:off x="4878934" y="3206003"/>
            <a:ext cx="492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0360466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C8C8-1470-42EB-7490-FA06176E1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DA228-DD58-13AE-21D5-637DFF814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Guessing  Probability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A57204-5309-CE49-2D93-074E769A6DBB}"/>
              </a:ext>
            </a:extLst>
          </p:cNvPr>
          <p:cNvSpPr txBox="1"/>
          <p:nvPr/>
        </p:nvSpPr>
        <p:spPr>
          <a:xfrm>
            <a:off x="1749777" y="3059668"/>
            <a:ext cx="5817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How likely is it that the message came from a true news ?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13871C-3E21-6422-4F48-23B2794DA956}"/>
              </a:ext>
            </a:extLst>
          </p:cNvPr>
          <p:cNvCxnSpPr/>
          <p:nvPr/>
        </p:nvCxnSpPr>
        <p:spPr>
          <a:xfrm>
            <a:off x="2269067" y="4014801"/>
            <a:ext cx="72023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C4EACB8-013F-A569-6B0E-0E2F73AEAB22}"/>
              </a:ext>
            </a:extLst>
          </p:cNvPr>
          <p:cNvCxnSpPr/>
          <p:nvPr/>
        </p:nvCxnSpPr>
        <p:spPr>
          <a:xfrm>
            <a:off x="2269067" y="3800312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559EB6-9D6E-C180-FF11-9D7E88D00188}"/>
              </a:ext>
            </a:extLst>
          </p:cNvPr>
          <p:cNvCxnSpPr/>
          <p:nvPr/>
        </p:nvCxnSpPr>
        <p:spPr>
          <a:xfrm>
            <a:off x="9465734" y="3822890"/>
            <a:ext cx="0" cy="3838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E9AB1CC-B806-F767-95BB-3DCC5F554107}"/>
              </a:ext>
            </a:extLst>
          </p:cNvPr>
          <p:cNvSpPr txBox="1"/>
          <p:nvPr/>
        </p:nvSpPr>
        <p:spPr>
          <a:xfrm>
            <a:off x="2115018" y="437604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48701A-3C8F-A2B4-6DA8-85F5F16BC6FB}"/>
              </a:ext>
            </a:extLst>
          </p:cNvPr>
          <p:cNvSpPr txBox="1"/>
          <p:nvPr/>
        </p:nvSpPr>
        <p:spPr>
          <a:xfrm>
            <a:off x="9249970" y="437604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DE" dirty="0"/>
              <a:t>10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7359F9F-A3C6-3DA3-F436-BF43B2936921}"/>
              </a:ext>
            </a:extLst>
          </p:cNvPr>
          <p:cNvSpPr/>
          <p:nvPr/>
        </p:nvSpPr>
        <p:spPr>
          <a:xfrm>
            <a:off x="6006311" y="3924801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297039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AAC0D-56F0-AA04-0C76-90BD1127A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D300CC-34E6-3D60-452F-2E3DAAA23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Repitition Results Regression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0EF6BD-B402-44FB-D57E-1BE3E5B7E4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7527985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3A6D6-2AD1-4298-61F8-7C7CB36CD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BCFDF1-BD49-E4E1-D114-B8BB62B10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Extension Results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56C0218-8B0A-CB4E-3B56-F649F553E4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239823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38F16-A74B-D157-7A79-31BC3058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A786B3-B22A-C475-B8C6-4B02A5EBA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Verdict &amp; Hypothesis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DCBA40C-CD97-B539-5821-26C7CFB80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30628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</TotalTime>
  <Words>315</Words>
  <Application>Microsoft Macintosh PowerPoint</Application>
  <PresentationFormat>Widescreen</PresentationFormat>
  <Paragraphs>43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Office Theme</vt:lpstr>
      <vt:lpstr>Trust me Bro - Good News</vt:lpstr>
      <vt:lpstr>Trusting the Good News</vt:lpstr>
      <vt:lpstr>Research Question Details</vt:lpstr>
      <vt:lpstr>Experiment Setup Explain</vt:lpstr>
      <vt:lpstr>Question</vt:lpstr>
      <vt:lpstr>Feedback</vt:lpstr>
      <vt:lpstr>Guessing  Probability</vt:lpstr>
      <vt:lpstr>Repitition Results Regression</vt:lpstr>
      <vt:lpstr>Extension Results</vt:lpstr>
      <vt:lpstr>Verdict &amp; Hypothesis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Manuel Lehé</dc:creator>
  <cp:lastModifiedBy>Manuel Lehé</cp:lastModifiedBy>
  <cp:revision>2</cp:revision>
  <dcterms:created xsi:type="dcterms:W3CDTF">2026-01-28T18:21:55Z</dcterms:created>
  <dcterms:modified xsi:type="dcterms:W3CDTF">2026-01-28T18:57:07Z</dcterms:modified>
</cp:coreProperties>
</file>