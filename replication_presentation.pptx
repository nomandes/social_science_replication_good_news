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7" r:id="rId2"/>
    <p:sldId id="258" r:id="rId3"/>
    <p:sldId id="263" r:id="rId4"/>
    <p:sldId id="264" r:id="rId5"/>
    <p:sldId id="265" r:id="rId6"/>
    <p:sldId id="259" r:id="rId7"/>
    <p:sldId id="267" r:id="rId8"/>
    <p:sldId id="270" r:id="rId9"/>
    <p:sldId id="271" r:id="rId10"/>
    <p:sldId id="272" r:id="rId11"/>
    <p:sldId id="27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1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63"/>
    <p:restoredTop sz="77177"/>
  </p:normalViewPr>
  <p:slideViewPr>
    <p:cSldViewPr snapToGrid="0">
      <p:cViewPr varScale="1">
        <p:scale>
          <a:sx n="169" d="100"/>
          <a:sy n="169" d="100"/>
        </p:scale>
        <p:origin x="18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7E69F3-E01A-734C-B9F4-76F16FAF78EC}" type="datetimeFigureOut">
              <a:rPr lang="en-DE" smtClean="0"/>
              <a:t>01.02.26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DE4EB9-60C9-1641-9311-3E3AA9FE5E9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29973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What do you think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E4EB9-60C9-1641-9311-3E3AA9FE5E93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23322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That’s what Michael Thaler asked himself when conducting his study, published in the Paper Good News….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asked Do people engage…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how did he test it ?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E4EB9-60C9-1641-9311-3E3AA9FE5E93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90385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 asked participants questions like this one and then asked for their </a:t>
            </a:r>
            <a:r>
              <a:rPr lang="en-GB" b="1" dirty="0"/>
              <a:t>median belief</a:t>
            </a:r>
            <a:r>
              <a:rPr lang="en-GB" dirty="0"/>
              <a:t> (50/50 point)</a:t>
            </a:r>
          </a:p>
          <a:p>
            <a:endParaRPr lang="en-GB" dirty="0"/>
          </a:p>
          <a:p>
            <a:r>
              <a:rPr lang="en-GB" dirty="0"/>
              <a:t>As motivation they got paid using incentive-compatible scoring system that rewarded right answers</a:t>
            </a:r>
          </a:p>
          <a:p>
            <a:endParaRPr lang="en-GB" dirty="0"/>
          </a:p>
          <a:p>
            <a:r>
              <a:rPr lang="en-GB" dirty="0"/>
              <a:t>After the question they got a feedback…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E4EB9-60C9-1641-9311-3E3AA9FE5E93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48018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feedback was a news article that was either True or False and was either telling them that in reality the value was lower than or higher than they estimated</a:t>
            </a:r>
          </a:p>
          <a:p>
            <a:endParaRPr lang="en-GB" dirty="0"/>
          </a:p>
          <a:p>
            <a:r>
              <a:rPr lang="en-GB" dirty="0"/>
              <a:t>Depending on the question this was coded as good or bad news ( in our case Higher would be good news </a:t>
            </a:r>
          </a:p>
          <a:p>
            <a:endParaRPr lang="en-GB" dirty="0"/>
          </a:p>
          <a:p>
            <a:r>
              <a:rPr lang="en-GB" dirty="0"/>
              <a:t>After the news..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E4EB9-60C9-1641-9311-3E3AA9FE5E93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53380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3F11E-36D8-F5F1-53C0-A98CEDFF5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2A4C02-A96E-27FB-B11B-66622033F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F721A4-5340-0204-0B1E-2B8AC62B98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They had to rate “How likely is it that this message came from the True News source?” on a scale of 1-10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 Main Dependent Variable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6A758-E7E9-0F84-B336-B554C2B44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E4EB9-60C9-1641-9311-3E3AA9FE5E93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45188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 quite a complicated setup to do what exactly ?</a:t>
            </a:r>
          </a:p>
          <a:p>
            <a:r>
              <a:rPr lang="en-GB" dirty="0"/>
              <a:t>The Goal was to test whether </a:t>
            </a:r>
            <a:r>
              <a:rPr lang="en-GB" b="1" dirty="0"/>
              <a:t>“good news” alone</a:t>
            </a:r>
            <a:r>
              <a:rPr lang="en-GB" dirty="0"/>
              <a:t> causes motivated reasoning, </a:t>
            </a:r>
            <a:r>
              <a:rPr lang="en-GB" i="1" dirty="0"/>
              <a:t>independent</a:t>
            </a:r>
            <a:r>
              <a:rPr lang="en-GB" dirty="0"/>
              <a:t> of: self-image, political identity, incentives and functional usefulness of beliefs</a:t>
            </a:r>
          </a:p>
          <a:p>
            <a:endParaRPr lang="en-DE" dirty="0"/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E4EB9-60C9-1641-9311-3E3AA9FE5E93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74822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30691-F1E2-7A12-553F-B2FF4F98A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ADC963-C276-D18A-7B18-61737B4201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96DF8-119A-B211-DD0C-CF01E8B62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Participant </a:t>
            </a:r>
            <a:r>
              <a:rPr lang="en-GB" dirty="0"/>
              <a:t>I</a:t>
            </a:r>
            <a:endParaRPr lang="en-DE" dirty="0"/>
          </a:p>
          <a:p>
            <a:r>
              <a:rPr lang="en-GB" dirty="0"/>
              <a:t>Q</a:t>
            </a:r>
            <a:r>
              <a:rPr lang="en-DE" dirty="0"/>
              <a:t>uestion topic q</a:t>
            </a:r>
          </a:p>
          <a:p>
            <a:r>
              <a:rPr lang="en-GB" dirty="0"/>
              <a:t>R</a:t>
            </a:r>
            <a:r>
              <a:rPr lang="en-DE" dirty="0"/>
              <a:t>ound r</a:t>
            </a: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C71DB-D1BD-DD4C-DE2B-D217A32442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E4EB9-60C9-1641-9311-3E3AA9FE5E93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28103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FC49B-506A-631C-181D-E6EB027A7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CC318A-F3E8-6EB5-E520-BC92DD3868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760C15-FBBD-9690-A7CE-05EE8041E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 quite a complicated setup to do what exactly ?</a:t>
            </a:r>
          </a:p>
          <a:p>
            <a:r>
              <a:rPr lang="en-GB" dirty="0"/>
              <a:t>The Goal was to test whether </a:t>
            </a:r>
            <a:r>
              <a:rPr lang="en-GB" b="1" dirty="0"/>
              <a:t>“good news” alone</a:t>
            </a:r>
            <a:r>
              <a:rPr lang="en-GB" dirty="0"/>
              <a:t> causes motivated reasoning, </a:t>
            </a:r>
            <a:r>
              <a:rPr lang="en-GB" i="1" dirty="0"/>
              <a:t>independent</a:t>
            </a:r>
            <a:r>
              <a:rPr lang="en-GB" dirty="0"/>
              <a:t> of: self-image, political identity, incentives and functional usefulness of beliefs</a:t>
            </a:r>
          </a:p>
          <a:p>
            <a:endParaRPr lang="en-DE" dirty="0"/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49C6B-1D26-173A-4C4C-0503536891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E4EB9-60C9-1641-9311-3E3AA9FE5E93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13411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24C5D-6F5F-8E8C-D1F9-0CC541ABF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951A14-891E-A062-27C2-EEC2CEC509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79259A-318D-DD26-910E-8E0295B65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 quite a complicated setup to do what exactly ?</a:t>
            </a:r>
          </a:p>
          <a:p>
            <a:r>
              <a:rPr lang="en-GB" dirty="0"/>
              <a:t>The Goal was to test whether </a:t>
            </a:r>
            <a:r>
              <a:rPr lang="en-GB" b="1" dirty="0"/>
              <a:t>“good news” alone</a:t>
            </a:r>
            <a:r>
              <a:rPr lang="en-GB" dirty="0"/>
              <a:t> causes motivated reasoning, </a:t>
            </a:r>
            <a:r>
              <a:rPr lang="en-GB" i="1" dirty="0"/>
              <a:t>independent</a:t>
            </a:r>
            <a:r>
              <a:rPr lang="en-GB" dirty="0"/>
              <a:t> of: self-image, political identity, incentives and functional usefulness of beliefs</a:t>
            </a:r>
          </a:p>
          <a:p>
            <a:endParaRPr lang="en-DE" dirty="0"/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32C89-20EC-91C6-E149-84C652744F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E4EB9-60C9-1641-9311-3E3AA9FE5E93}" type="slidenum">
              <a:rPr lang="en-DE" smtClean="0"/>
              <a:t>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092015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90356-426B-7DC6-25B7-A3EE8FBB6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EF1ED2-4642-16E6-1E79-3261F4D3BA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486C5B-333D-AD2D-30E6-2522CD855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 quite a complicated setup to do what exactly ?</a:t>
            </a:r>
          </a:p>
          <a:p>
            <a:r>
              <a:rPr lang="en-GB" dirty="0"/>
              <a:t>The Goal was to test whether </a:t>
            </a:r>
            <a:r>
              <a:rPr lang="en-GB" b="1" dirty="0"/>
              <a:t>“good news” alone</a:t>
            </a:r>
            <a:r>
              <a:rPr lang="en-GB" dirty="0"/>
              <a:t> causes motivated reasoning, </a:t>
            </a:r>
            <a:r>
              <a:rPr lang="en-GB" i="1" dirty="0"/>
              <a:t>independent</a:t>
            </a:r>
            <a:r>
              <a:rPr lang="en-GB" dirty="0"/>
              <a:t> of: self-image, political identity, incentives and functional usefulness of beliefs</a:t>
            </a:r>
          </a:p>
          <a:p>
            <a:endParaRPr lang="en-DE" dirty="0"/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A158E-1EC6-7E6A-61B5-2CA97E06C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E4EB9-60C9-1641-9311-3E3AA9FE5E93}" type="slidenum">
              <a:rPr lang="en-DE" smtClean="0"/>
              <a:t>10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205374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E4EB9-60C9-1641-9311-3E3AA9FE5E93}" type="slidenum">
              <a:rPr lang="en-DE" smtClean="0"/>
              <a:t>11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75745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84EF6-DEF1-E94D-B390-E1846AA13E25}" type="datetimeFigureOut">
              <a:rPr lang="en-DE" smtClean="0"/>
              <a:t>01.02.26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32843-5F14-C94D-AB0E-E44EECA838C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23289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84EF6-DEF1-E94D-B390-E1846AA13E25}" type="datetimeFigureOut">
              <a:rPr lang="en-DE" smtClean="0"/>
              <a:t>01.02.26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32843-5F14-C94D-AB0E-E44EECA838C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69174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84EF6-DEF1-E94D-B390-E1846AA13E25}" type="datetimeFigureOut">
              <a:rPr lang="en-DE" smtClean="0"/>
              <a:t>01.02.26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32843-5F14-C94D-AB0E-E44EECA838C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73412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84EF6-DEF1-E94D-B390-E1846AA13E25}" type="datetimeFigureOut">
              <a:rPr lang="en-DE" smtClean="0"/>
              <a:t>01.02.26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32843-5F14-C94D-AB0E-E44EECA838C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92973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84EF6-DEF1-E94D-B390-E1846AA13E25}" type="datetimeFigureOut">
              <a:rPr lang="en-DE" smtClean="0"/>
              <a:t>01.02.26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32843-5F14-C94D-AB0E-E44EECA838C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50132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84EF6-DEF1-E94D-B390-E1846AA13E25}" type="datetimeFigureOut">
              <a:rPr lang="en-DE" smtClean="0"/>
              <a:t>01.02.26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32843-5F14-C94D-AB0E-E44EECA838C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60781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84EF6-DEF1-E94D-B390-E1846AA13E25}" type="datetimeFigureOut">
              <a:rPr lang="en-DE" smtClean="0"/>
              <a:t>01.02.26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32843-5F14-C94D-AB0E-E44EECA838C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28875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84EF6-DEF1-E94D-B390-E1846AA13E25}" type="datetimeFigureOut">
              <a:rPr lang="en-DE" smtClean="0"/>
              <a:t>01.02.26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32843-5F14-C94D-AB0E-E44EECA838C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01208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84EF6-DEF1-E94D-B390-E1846AA13E25}" type="datetimeFigureOut">
              <a:rPr lang="en-DE" smtClean="0"/>
              <a:t>01.02.26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32843-5F14-C94D-AB0E-E44EECA838C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78610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84EF6-DEF1-E94D-B390-E1846AA13E25}" type="datetimeFigureOut">
              <a:rPr lang="en-DE" smtClean="0"/>
              <a:t>01.02.26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32843-5F14-C94D-AB0E-E44EECA838C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77155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84EF6-DEF1-E94D-B390-E1846AA13E25}" type="datetimeFigureOut">
              <a:rPr lang="en-DE" smtClean="0"/>
              <a:t>01.02.26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32843-5F14-C94D-AB0E-E44EECA838C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85438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4084EF6-DEF1-E94D-B390-E1846AA13E25}" type="datetimeFigureOut">
              <a:rPr lang="en-DE" smtClean="0"/>
              <a:t>01.02.26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7332843-5F14-C94D-AB0E-E44EECA838C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347387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BD5F6A-98F1-DB53-F564-A37731452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and gray head with different symbols&#10;&#10;AI-generated content may be incorrect.">
            <a:extLst>
              <a:ext uri="{FF2B5EF4-FFF2-40B4-BE49-F238E27FC236}">
                <a16:creationId xmlns:a16="http://schemas.microsoft.com/office/drawing/2014/main" id="{97086B5C-E821-1CEF-29A9-B3393DC77A7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t="13279" b="2451"/>
          <a:stretch>
            <a:fillRect/>
          </a:stretch>
        </p:blipFill>
        <p:spPr>
          <a:xfrm>
            <a:off x="20" y="2348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953337-8C2A-46D6-1932-726DD8BF2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965200"/>
            <a:ext cx="10261600" cy="3564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Trusting the Good News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26B382-EAB5-48AD-A7BA-B20D5A820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4572002"/>
            <a:ext cx="10261600" cy="120299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 dirty="0"/>
              <a:t>Do you trust good news more than bad news ? </a:t>
            </a:r>
          </a:p>
        </p:txBody>
      </p:sp>
    </p:spTree>
    <p:extLst>
      <p:ext uri="{BB962C8B-B14F-4D97-AF65-F5344CB8AC3E}">
        <p14:creationId xmlns:p14="http://schemas.microsoft.com/office/powerpoint/2010/main" val="2920465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D0742-C6AC-65E3-8E52-3B63604D3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DFDE5-A35C-7E72-3E72-3CEC4081D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Research Question Details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8388EC-D55D-4AD8-5804-61D6405B17EC}"/>
              </a:ext>
            </a:extLst>
          </p:cNvPr>
          <p:cNvSpPr txBox="1"/>
          <p:nvPr/>
        </p:nvSpPr>
        <p:spPr>
          <a:xfrm>
            <a:off x="1408289" y="2644170"/>
            <a:ext cx="93754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i="1" dirty="0"/>
              <a:t>Do people engage in motivated reasoning just because news is “good” rather than “bad,” when ego, identity, and functional incentives are stripped away?</a:t>
            </a:r>
            <a:endParaRPr lang="en-DE" sz="2400" i="1" dirty="0"/>
          </a:p>
          <a:p>
            <a:endParaRPr lang="en-DE" sz="2400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E71385-FDF7-99A2-ACFD-96BF33753B5C}"/>
              </a:ext>
            </a:extLst>
          </p:cNvPr>
          <p:cNvSpPr txBox="1"/>
          <p:nvPr/>
        </p:nvSpPr>
        <p:spPr>
          <a:xfrm>
            <a:off x="4955823" y="6185098"/>
            <a:ext cx="7236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Good News Is Not a Sufficient Condition for Motivated Reasoning (M. Thaler,  2025)</a:t>
            </a:r>
          </a:p>
        </p:txBody>
      </p:sp>
    </p:spTree>
    <p:extLst>
      <p:ext uri="{BB962C8B-B14F-4D97-AF65-F5344CB8AC3E}">
        <p14:creationId xmlns:p14="http://schemas.microsoft.com/office/powerpoint/2010/main" val="1185796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AB24A-EE79-A811-445F-90F4A186E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Question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CFA646-49FC-77E3-C156-FA9CAEA62E46}"/>
              </a:ext>
            </a:extLst>
          </p:cNvPr>
          <p:cNvSpPr txBox="1"/>
          <p:nvPr/>
        </p:nvSpPr>
        <p:spPr>
          <a:xfrm>
            <a:off x="1539289" y="2614904"/>
            <a:ext cx="950773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The Department of Peace and Conflict Research estimates that 45.8 thousand people were</a:t>
            </a:r>
          </a:p>
          <a:p>
            <a:r>
              <a:rPr lang="en-GB" dirty="0"/>
              <a:t>killed per year in battles in the fifteen years from 1989-2003.</a:t>
            </a:r>
          </a:p>
          <a:p>
            <a:r>
              <a:rPr lang="en-GB" dirty="0"/>
              <a:t>How many thousands of people were killed per year in battles in the fifteen years from</a:t>
            </a:r>
          </a:p>
          <a:p>
            <a:r>
              <a:rPr lang="en-GB" dirty="0"/>
              <a:t>2004-2018?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97113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9A0AF-4F5D-9CE7-6B99-4F10E9413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Feedback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9D0AB3-DD8A-BD1E-919B-D3F83DC9DE85}"/>
              </a:ext>
            </a:extLst>
          </p:cNvPr>
          <p:cNvSpPr txBox="1"/>
          <p:nvPr/>
        </p:nvSpPr>
        <p:spPr>
          <a:xfrm>
            <a:off x="314129" y="4205484"/>
            <a:ext cx="5609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Good News – Actually the value is lower as you thought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E547A7-DCB0-FA68-6179-3792416F1D07}"/>
              </a:ext>
            </a:extLst>
          </p:cNvPr>
          <p:cNvSpPr txBox="1"/>
          <p:nvPr/>
        </p:nvSpPr>
        <p:spPr>
          <a:xfrm>
            <a:off x="6273823" y="2098179"/>
            <a:ext cx="5527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Bad News – Actually the value is higher as you thought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90FF86-8BC8-5C62-01D7-B671F5D92206}"/>
              </a:ext>
            </a:extLst>
          </p:cNvPr>
          <p:cNvSpPr txBox="1"/>
          <p:nvPr/>
        </p:nvSpPr>
        <p:spPr>
          <a:xfrm>
            <a:off x="5849778" y="3244334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2036046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3C8C8-1470-42EB-7490-FA06176E1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DA228-DD58-13AE-21D5-637DFF814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Guessing  Probability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A57204-5309-CE49-2D93-074E769A6DBB}"/>
              </a:ext>
            </a:extLst>
          </p:cNvPr>
          <p:cNvSpPr txBox="1"/>
          <p:nvPr/>
        </p:nvSpPr>
        <p:spPr>
          <a:xfrm>
            <a:off x="1749777" y="3059668"/>
            <a:ext cx="6494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How likely is it that the message came from a true news source 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C13871C-3E21-6422-4F48-23B2794DA956}"/>
              </a:ext>
            </a:extLst>
          </p:cNvPr>
          <p:cNvCxnSpPr/>
          <p:nvPr/>
        </p:nvCxnSpPr>
        <p:spPr>
          <a:xfrm>
            <a:off x="2269067" y="4014801"/>
            <a:ext cx="72023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EACB8-013F-A569-6B0E-0E2F73AEAB22}"/>
              </a:ext>
            </a:extLst>
          </p:cNvPr>
          <p:cNvCxnSpPr/>
          <p:nvPr/>
        </p:nvCxnSpPr>
        <p:spPr>
          <a:xfrm>
            <a:off x="2269067" y="3800312"/>
            <a:ext cx="0" cy="3838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559EB6-9D6E-C180-FF11-9D7E88D00188}"/>
              </a:ext>
            </a:extLst>
          </p:cNvPr>
          <p:cNvCxnSpPr/>
          <p:nvPr/>
        </p:nvCxnSpPr>
        <p:spPr>
          <a:xfrm>
            <a:off x="9465734" y="3822890"/>
            <a:ext cx="0" cy="3838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E9AB1CC-B806-F767-95BB-3DCC5F554107}"/>
              </a:ext>
            </a:extLst>
          </p:cNvPr>
          <p:cNvSpPr txBox="1"/>
          <p:nvPr/>
        </p:nvSpPr>
        <p:spPr>
          <a:xfrm>
            <a:off x="2115018" y="437604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48701A-3C8F-A2B4-6DA8-85F5F16BC6FB}"/>
              </a:ext>
            </a:extLst>
          </p:cNvPr>
          <p:cNvSpPr txBox="1"/>
          <p:nvPr/>
        </p:nvSpPr>
        <p:spPr>
          <a:xfrm>
            <a:off x="9249970" y="437604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10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7359F9F-A3C6-3DA3-F436-BF43B2936921}"/>
              </a:ext>
            </a:extLst>
          </p:cNvPr>
          <p:cNvSpPr/>
          <p:nvPr/>
        </p:nvSpPr>
        <p:spPr>
          <a:xfrm>
            <a:off x="6006311" y="3924801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97039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82473-A072-CAE6-FE52-25806EDE1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8EFBC-BB83-11D7-BB83-7DEFB176A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Experiment Setup Explain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3E206E-CC1A-6692-A831-D882224EB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&gt;6,000 observations</a:t>
            </a:r>
          </a:p>
          <a:p>
            <a:r>
              <a:rPr lang="en-GB" dirty="0"/>
              <a:t>~1,900 participant</a:t>
            </a:r>
          </a:p>
          <a:p>
            <a:r>
              <a:rPr lang="en-GB" dirty="0"/>
              <a:t>3 Waves</a:t>
            </a:r>
          </a:p>
          <a:p>
            <a:endParaRPr lang="en-GB" dirty="0"/>
          </a:p>
          <a:p>
            <a:endParaRPr lang="en-GB" dirty="0"/>
          </a:p>
          <a:p>
            <a:endParaRPr lang="en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BA7B92-207A-0782-D57C-6CA11BEFA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3674" y="3811889"/>
            <a:ext cx="2758944" cy="275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300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4C2EF-77C5-A39B-0FA4-BCC6E9063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42F8A-C4A9-C9CD-855F-4B36D2038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Regression Specifications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5C3026-FAD4-C1BA-8AC6-1698827C2EEC}"/>
                  </a:ext>
                </a:extLst>
              </p:cNvPr>
              <p:cNvSpPr txBox="1"/>
              <p:nvPr/>
            </p:nvSpPr>
            <p:spPr>
              <a:xfrm>
                <a:off x="694931" y="3188132"/>
                <a:ext cx="10802137" cy="4817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DE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𝑖𝑞𝑟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DE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𝐺𝑜𝑜𝑑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𝑁𝑒𝑤𝑠</m:t>
                              </m:r>
                            </m:e>
                          </m:d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𝑖𝑞𝑟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𝑐𝑜𝑛𝑡𝑟𝑜𝑙𝑠</m:t>
                          </m:r>
                        </m:sup>
                      </m:sSup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𝑖𝑞𝑟</m:t>
                          </m:r>
                        </m:sub>
                      </m:sSub>
                    </m:oMath>
                  </m:oMathPara>
                </a14:m>
                <a:endParaRPr lang="en-DE" sz="2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5C3026-FAD4-C1BA-8AC6-1698827C2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31" y="3188132"/>
                <a:ext cx="10802137" cy="481735"/>
              </a:xfrm>
              <a:prstGeom prst="rect">
                <a:avLst/>
              </a:prstGeom>
              <a:blipFill>
                <a:blip r:embed="rId3"/>
                <a:stretch>
                  <a:fillRect t="-2632" b="-2894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5AB321-CCC9-72F5-B2F1-9B5814AC5216}"/>
                  </a:ext>
                </a:extLst>
              </p:cNvPr>
              <p:cNvSpPr txBox="1"/>
              <p:nvPr/>
            </p:nvSpPr>
            <p:spPr>
              <a:xfrm>
                <a:off x="170033" y="6419692"/>
                <a:ext cx="45203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𝑐𝑜𝑛𝑡𝑟𝑜𝑙𝑠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𝑎𝑔𝑒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𝑔𝑒𝑛𝑑𝑒𝑟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𝑦𝑒𝑎𝑟𝑠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𝑒𝑑𝑢𝑐𝑎𝑡𝑖𝑜𝑛</m:t>
                      </m:r>
                    </m:oMath>
                  </m:oMathPara>
                </a14:m>
                <a:endParaRPr lang="en-DE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5AB321-CCC9-72F5-B2F1-9B5814AC5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033" y="6419692"/>
                <a:ext cx="4520340" cy="276999"/>
              </a:xfrm>
              <a:prstGeom prst="rect">
                <a:avLst/>
              </a:prstGeom>
              <a:blipFill>
                <a:blip r:embed="rId4"/>
                <a:stretch>
                  <a:fillRect l="-840" t="-8696" r="-560" b="-3478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925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EF7B6-3269-D8D1-D6D1-FDE505BC6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63387-D2D5-3615-C402-A7C687A48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Regression Replication</a:t>
            </a:r>
          </a:p>
        </p:txBody>
      </p:sp>
      <p:pic>
        <p:nvPicPr>
          <p:cNvPr id="7" name="Picture 6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1C6519C2-9586-BFB2-E67B-58D5AA5C3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423" y="1690688"/>
            <a:ext cx="6787153" cy="501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014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73861-AA49-54B9-C6E4-B404D9BE1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8B810-D92D-7086-0B51-319E3E629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Extension Regression</a:t>
            </a:r>
          </a:p>
        </p:txBody>
      </p:sp>
      <p:pic>
        <p:nvPicPr>
          <p:cNvPr id="3" name="Picture 2" descr="A screen shot of a graph&#10;&#10;AI-generated content may be incorrect.">
            <a:extLst>
              <a:ext uri="{FF2B5EF4-FFF2-40B4-BE49-F238E27FC236}">
                <a16:creationId xmlns:a16="http://schemas.microsoft.com/office/drawing/2014/main" id="{C7199E07-6880-D9E3-6685-D5760FA1A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632" y="1690688"/>
            <a:ext cx="6876736" cy="508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51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E6743-AA5B-3BAC-CFF1-FC945AD3B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BC2E0-9C72-A152-44A0-F133E03B8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Extension Mean Values</a:t>
            </a:r>
          </a:p>
        </p:txBody>
      </p:sp>
      <p:pic>
        <p:nvPicPr>
          <p:cNvPr id="6" name="Picture 5" descr="A graph of different colored rectangular shapes&#10;&#10;AI-generated content may be incorrect.">
            <a:extLst>
              <a:ext uri="{FF2B5EF4-FFF2-40B4-BE49-F238E27FC236}">
                <a16:creationId xmlns:a16="http://schemas.microsoft.com/office/drawing/2014/main" id="{0C952F8E-E36F-28B2-E652-555FBAF28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321" y="1578387"/>
            <a:ext cx="7143358" cy="527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21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DF4813-9192-8F11-9FB0-A7F8FE31C2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E" dirty="0"/>
              <a:t>Fin.</a:t>
            </a:r>
          </a:p>
        </p:txBody>
      </p:sp>
    </p:spTree>
    <p:extLst>
      <p:ext uri="{BB962C8B-B14F-4D97-AF65-F5344CB8AC3E}">
        <p14:creationId xmlns:p14="http://schemas.microsoft.com/office/powerpoint/2010/main" val="3987243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5982</TotalTime>
  <Words>535</Words>
  <Application>Microsoft Macintosh PowerPoint</Application>
  <PresentationFormat>Widescreen</PresentationFormat>
  <Paragraphs>67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Office Theme</vt:lpstr>
      <vt:lpstr>Trusting the Good News</vt:lpstr>
      <vt:lpstr>Research Question Details</vt:lpstr>
      <vt:lpstr>Question</vt:lpstr>
      <vt:lpstr>Feedback</vt:lpstr>
      <vt:lpstr>Guessing  Probability</vt:lpstr>
      <vt:lpstr>Experiment Setup Explain</vt:lpstr>
      <vt:lpstr>Regression Specifications</vt:lpstr>
      <vt:lpstr>Regression Replication</vt:lpstr>
      <vt:lpstr>Extension Regression</vt:lpstr>
      <vt:lpstr>Extension Mean Values</vt:lpstr>
      <vt:lpstr>Fin.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Lehé</dc:creator>
  <cp:lastModifiedBy>Manuel Lehé</cp:lastModifiedBy>
  <cp:revision>13</cp:revision>
  <dcterms:created xsi:type="dcterms:W3CDTF">2026-01-28T18:21:55Z</dcterms:created>
  <dcterms:modified xsi:type="dcterms:W3CDTF">2026-02-02T20:28:04Z</dcterms:modified>
</cp:coreProperties>
</file>