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theme/theme2.xml" ContentType="application/vnd.openxmlformats-officedocument.them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60" r:id="rId1"/>
  </p:sldMasterIdLst>
  <p:notesMasterIdLst>
    <p:notesMasterId r:id="rId13"/>
  </p:notesMasterIdLst>
  <p:sldIdLst>
    <p:sldId id="257" r:id="rId2"/>
    <p:sldId id="258" r:id="rId3"/>
    <p:sldId id="263" r:id="rId4"/>
    <p:sldId id="264" r:id="rId5"/>
    <p:sldId id="265" r:id="rId6"/>
    <p:sldId id="259" r:id="rId7"/>
    <p:sldId id="267" r:id="rId8"/>
    <p:sldId id="268" r:id="rId9"/>
    <p:sldId id="269" r:id="rId10"/>
    <p:sldId id="266" r:id="rId11"/>
    <p:sldId id="262" r:id="rId12"/>
  </p:sldIdLst>
  <p:sldSz cx="12192000" cy="6858000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clrMru>
    <a:srgbClr val="121212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8363"/>
    <p:restoredTop sz="77177"/>
  </p:normalViewPr>
  <p:slideViewPr>
    <p:cSldViewPr snapToGrid="0">
      <p:cViewPr varScale="1">
        <p:scale>
          <a:sx n="169" d="100"/>
          <a:sy n="169" d="100"/>
        </p:scale>
        <p:origin x="1808" y="19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notesMaster" Target="notesMasters/notesMaster1.xml"/><Relationship Id="rId3" Type="http://schemas.openxmlformats.org/officeDocument/2006/relationships/slide" Target="slides/slide2.xml"/><Relationship Id="rId7" Type="http://schemas.openxmlformats.org/officeDocument/2006/relationships/slide" Target="slides/slide6.xml"/><Relationship Id="rId12" Type="http://schemas.openxmlformats.org/officeDocument/2006/relationships/slide" Target="slides/slide11.xml"/><Relationship Id="rId17" Type="http://schemas.openxmlformats.org/officeDocument/2006/relationships/tableStyles" Target="tableStyles.xml"/><Relationship Id="rId2" Type="http://schemas.openxmlformats.org/officeDocument/2006/relationships/slide" Target="slides/slide1.xml"/><Relationship Id="rId16" Type="http://schemas.openxmlformats.org/officeDocument/2006/relationships/theme" Target="theme/theme1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5" Type="http://schemas.openxmlformats.org/officeDocument/2006/relationships/slide" Target="slides/slide4.xml"/><Relationship Id="rId15" Type="http://schemas.openxmlformats.org/officeDocument/2006/relationships/viewProps" Target="viewProps.xml"/><Relationship Id="rId10" Type="http://schemas.openxmlformats.org/officeDocument/2006/relationships/slide" Target="slides/slide9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presProps" Target="presProps.xml"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DE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7F7E69F3-E01A-734C-B9F4-76F16FAF78EC}" type="datetimeFigureOut">
              <a:rPr lang="en-DE" smtClean="0"/>
              <a:t>01.02.26</a:t>
            </a:fld>
            <a:endParaRPr lang="en-DE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DE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GB"/>
              <a:t>Click to edit Master text styles</a:t>
            </a:r>
          </a:p>
          <a:p>
            <a:pPr lvl="1"/>
            <a:r>
              <a:rPr lang="en-GB"/>
              <a:t>Second level</a:t>
            </a:r>
          </a:p>
          <a:p>
            <a:pPr lvl="2"/>
            <a:r>
              <a:rPr lang="en-GB"/>
              <a:t>Third level</a:t>
            </a:r>
          </a:p>
          <a:p>
            <a:pPr lvl="3"/>
            <a:r>
              <a:rPr lang="en-GB"/>
              <a:t>Fourth level</a:t>
            </a:r>
          </a:p>
          <a:p>
            <a:pPr lvl="4"/>
            <a:r>
              <a:rPr lang="en-GB"/>
              <a:t>Fifth level</a:t>
            </a:r>
            <a:endParaRPr lang="en-DE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DE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51DE4EB9-60C9-1641-9311-3E3AA9FE5E93}" type="slidenum">
              <a:rPr lang="en-DE" smtClean="0"/>
              <a:t>‹#›</a:t>
            </a:fld>
            <a:endParaRPr lang="en-DE"/>
          </a:p>
        </p:txBody>
      </p:sp>
    </p:spTree>
    <p:extLst>
      <p:ext uri="{BB962C8B-B14F-4D97-AF65-F5344CB8AC3E}">
        <p14:creationId xmlns:p14="http://schemas.microsoft.com/office/powerpoint/2010/main" val="3329973928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.xml"/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.xml"/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.xml"/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.xml"/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.xml"/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6.xml"/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7.xml"/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8.xml"/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9.xml"/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0.xml"/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1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DE" dirty="0"/>
              <a:t>What do you think ?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51DE4EB9-60C9-1641-9311-3E3AA9FE5E93}" type="slidenum">
              <a:rPr lang="en-DE" smtClean="0"/>
              <a:t>1</a:t>
            </a:fld>
            <a:endParaRPr lang="en-DE"/>
          </a:p>
        </p:txBody>
      </p:sp>
    </p:spTree>
    <p:extLst>
      <p:ext uri="{BB962C8B-B14F-4D97-AF65-F5344CB8AC3E}">
        <p14:creationId xmlns:p14="http://schemas.microsoft.com/office/powerpoint/2010/main" val="3423322539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That’s what Michael Thaler asked himself when conducting his study, published in the Paper Good News….</a:t>
            </a:r>
            <a:br>
              <a:rPr lang="en-US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</a:br>
            <a:r>
              <a:rPr lang="en-US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He asked Do people engage…</a:t>
            </a:r>
            <a:br>
              <a:rPr lang="en-US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</a:br>
            <a:r>
              <a:rPr lang="en-US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But how did he test it ?</a:t>
            </a:r>
            <a:endParaRPr lang="en-DE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51DE4EB9-60C9-1641-9311-3E3AA9FE5E93}" type="slidenum">
              <a:rPr lang="en-DE" smtClean="0"/>
              <a:t>2</a:t>
            </a:fld>
            <a:endParaRPr lang="en-DE"/>
          </a:p>
        </p:txBody>
      </p:sp>
    </p:spTree>
    <p:extLst>
      <p:ext uri="{BB962C8B-B14F-4D97-AF65-F5344CB8AC3E}">
        <p14:creationId xmlns:p14="http://schemas.microsoft.com/office/powerpoint/2010/main" val="2490385870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GB" dirty="0"/>
              <a:t>He asked participants questions like this one and then asked for their </a:t>
            </a:r>
            <a:r>
              <a:rPr lang="en-GB" b="1" dirty="0"/>
              <a:t>median belief</a:t>
            </a:r>
            <a:r>
              <a:rPr lang="en-GB" dirty="0"/>
              <a:t> (50/50 point)</a:t>
            </a:r>
          </a:p>
          <a:p>
            <a:endParaRPr lang="en-GB" dirty="0"/>
          </a:p>
          <a:p>
            <a:r>
              <a:rPr lang="en-GB" dirty="0"/>
              <a:t>As motivation they got paid using incentive-compatible scoring system that rewarded right answers</a:t>
            </a:r>
          </a:p>
          <a:p>
            <a:endParaRPr lang="en-GB" dirty="0"/>
          </a:p>
          <a:p>
            <a:r>
              <a:rPr lang="en-GB" dirty="0"/>
              <a:t>After the question they got a feedback…</a:t>
            </a:r>
          </a:p>
          <a:p>
            <a:endParaRPr lang="en-DE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51DE4EB9-60C9-1641-9311-3E3AA9FE5E93}" type="slidenum">
              <a:rPr lang="en-DE" smtClean="0"/>
              <a:t>3</a:t>
            </a:fld>
            <a:endParaRPr lang="en-DE"/>
          </a:p>
        </p:txBody>
      </p:sp>
    </p:spTree>
    <p:extLst>
      <p:ext uri="{BB962C8B-B14F-4D97-AF65-F5344CB8AC3E}">
        <p14:creationId xmlns:p14="http://schemas.microsoft.com/office/powerpoint/2010/main" val="2248018696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GB" dirty="0"/>
              <a:t>The feedback was a news article that was either True or False and was either telling them that in reality the value was lower than or higher than they estimated</a:t>
            </a:r>
          </a:p>
          <a:p>
            <a:endParaRPr lang="en-GB" dirty="0"/>
          </a:p>
          <a:p>
            <a:r>
              <a:rPr lang="en-GB" dirty="0"/>
              <a:t>Depending on the question this was coded as good or bad news ( in our case Higher would be good news </a:t>
            </a:r>
          </a:p>
          <a:p>
            <a:endParaRPr lang="en-GB" dirty="0"/>
          </a:p>
          <a:p>
            <a:r>
              <a:rPr lang="en-GB" dirty="0"/>
              <a:t>After the news..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51DE4EB9-60C9-1641-9311-3E3AA9FE5E93}" type="slidenum">
              <a:rPr lang="en-DE" smtClean="0"/>
              <a:t>4</a:t>
            </a:fld>
            <a:endParaRPr lang="en-DE"/>
          </a:p>
        </p:txBody>
      </p:sp>
    </p:spTree>
    <p:extLst>
      <p:ext uri="{BB962C8B-B14F-4D97-AF65-F5344CB8AC3E}">
        <p14:creationId xmlns:p14="http://schemas.microsoft.com/office/powerpoint/2010/main" val="3753380112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E733F11E-36D8-F5F1-53C0-A98CEDFF5FEE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D92A4C02-A96E-27FB-B11B-66622033FF3F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D4F721A4-5340-0204-0B1E-2B8AC62B9834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en-GB" dirty="0"/>
              <a:t>They had to rate “How likely is it that this message came from the True News source?” on a scale of 1-10</a:t>
            </a:r>
          </a:p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lang="en-GB" dirty="0"/>
          </a:p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en-GB" dirty="0"/>
              <a:t> Main Dependent Variable</a:t>
            </a:r>
          </a:p>
          <a:p>
            <a:endParaRPr lang="en-DE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BD46A758-E7E9-0F84-B336-B554C2B4416F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51DE4EB9-60C9-1641-9311-3E3AA9FE5E93}" type="slidenum">
              <a:rPr lang="en-DE" smtClean="0"/>
              <a:t>5</a:t>
            </a:fld>
            <a:endParaRPr lang="en-DE"/>
          </a:p>
        </p:txBody>
      </p:sp>
    </p:spTree>
    <p:extLst>
      <p:ext uri="{BB962C8B-B14F-4D97-AF65-F5344CB8AC3E}">
        <p14:creationId xmlns:p14="http://schemas.microsoft.com/office/powerpoint/2010/main" val="324518831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GB" dirty="0"/>
              <a:t>So quite a complicated setup to do what exactly ?</a:t>
            </a:r>
          </a:p>
          <a:p>
            <a:r>
              <a:rPr lang="en-GB" dirty="0"/>
              <a:t>The Goal was to test whether </a:t>
            </a:r>
            <a:r>
              <a:rPr lang="en-GB" b="1" dirty="0"/>
              <a:t>“good news” alone</a:t>
            </a:r>
            <a:r>
              <a:rPr lang="en-GB" dirty="0"/>
              <a:t> causes motivated reasoning, </a:t>
            </a:r>
            <a:r>
              <a:rPr lang="en-GB" i="1" dirty="0"/>
              <a:t>independent</a:t>
            </a:r>
            <a:r>
              <a:rPr lang="en-GB" dirty="0"/>
              <a:t> of: self-image, political identity, incentives and functional usefulness of beliefs</a:t>
            </a:r>
          </a:p>
          <a:p>
            <a:endParaRPr lang="en-DE" dirty="0"/>
          </a:p>
          <a:p>
            <a:endParaRPr lang="en-DE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51DE4EB9-60C9-1641-9311-3E3AA9FE5E93}" type="slidenum">
              <a:rPr lang="en-DE" smtClean="0"/>
              <a:t>6</a:t>
            </a:fld>
            <a:endParaRPr lang="en-DE"/>
          </a:p>
        </p:txBody>
      </p:sp>
    </p:spTree>
    <p:extLst>
      <p:ext uri="{BB962C8B-B14F-4D97-AF65-F5344CB8AC3E}">
        <p14:creationId xmlns:p14="http://schemas.microsoft.com/office/powerpoint/2010/main" val="1974822315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23D30691-F1E2-7A12-553F-B2FF4F98A20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28ADC963-C276-D18A-7B18-61737B420184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FF996DF8-119A-B211-DD0C-CF01E8B62C04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DE" dirty="0"/>
              <a:t>Participant </a:t>
            </a:r>
            <a:r>
              <a:rPr lang="en-GB" dirty="0"/>
              <a:t>I</a:t>
            </a:r>
            <a:endParaRPr lang="en-DE" dirty="0"/>
          </a:p>
          <a:p>
            <a:r>
              <a:rPr lang="en-GB" dirty="0"/>
              <a:t>Q</a:t>
            </a:r>
            <a:r>
              <a:rPr lang="en-DE" dirty="0"/>
              <a:t>uestion topic q</a:t>
            </a:r>
          </a:p>
          <a:p>
            <a:r>
              <a:rPr lang="en-GB" dirty="0"/>
              <a:t>R</a:t>
            </a:r>
            <a:r>
              <a:rPr lang="en-DE" dirty="0"/>
              <a:t>ound r</a:t>
            </a:r>
          </a:p>
          <a:p>
            <a:endParaRPr lang="en-DE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6F9C71DB-D1BD-DD4C-DE2B-D217A32442B1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51DE4EB9-60C9-1641-9311-3E3AA9FE5E93}" type="slidenum">
              <a:rPr lang="en-DE" smtClean="0"/>
              <a:t>7</a:t>
            </a:fld>
            <a:endParaRPr lang="en-DE"/>
          </a:p>
        </p:txBody>
      </p:sp>
    </p:spTree>
    <p:extLst>
      <p:ext uri="{BB962C8B-B14F-4D97-AF65-F5344CB8AC3E}">
        <p14:creationId xmlns:p14="http://schemas.microsoft.com/office/powerpoint/2010/main" val="1528103802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91F34819-81D9-B43A-AAEE-8228DE8951B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FC396B3C-82C3-1441-D4DB-F9669E22CEF8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F833D996-8016-B438-57B3-C7352149B0E3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DE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CFE6523F-C24E-9C28-75DA-A3BA0E0A87E0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51DE4EB9-60C9-1641-9311-3E3AA9FE5E93}" type="slidenum">
              <a:rPr lang="en-DE" smtClean="0"/>
              <a:t>8</a:t>
            </a:fld>
            <a:endParaRPr lang="en-DE"/>
          </a:p>
        </p:txBody>
      </p:sp>
    </p:spTree>
    <p:extLst>
      <p:ext uri="{BB962C8B-B14F-4D97-AF65-F5344CB8AC3E}">
        <p14:creationId xmlns:p14="http://schemas.microsoft.com/office/powerpoint/2010/main" val="920723390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5F3B0637-9F6F-2260-26EC-022AA4C26956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B9045CA6-C959-69FB-A3EB-D5989341F6B7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A60FE0E2-EDCB-C90B-4C1B-88085B3F9B6B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DE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735EE59A-E30A-570A-5E9A-452AA8E41BE8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51DE4EB9-60C9-1641-9311-3E3AA9FE5E93}" type="slidenum">
              <a:rPr lang="en-DE" smtClean="0"/>
              <a:t>9</a:t>
            </a:fld>
            <a:endParaRPr lang="en-DE"/>
          </a:p>
        </p:txBody>
      </p:sp>
    </p:spTree>
    <p:extLst>
      <p:ext uri="{BB962C8B-B14F-4D97-AF65-F5344CB8AC3E}">
        <p14:creationId xmlns:p14="http://schemas.microsoft.com/office/powerpoint/2010/main" val="619535107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DE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51DE4EB9-60C9-1641-9311-3E3AA9FE5E93}" type="slidenum">
              <a:rPr lang="en-DE" smtClean="0"/>
              <a:t>10</a:t>
            </a:fld>
            <a:endParaRPr lang="en-DE"/>
          </a:p>
        </p:txBody>
      </p:sp>
    </p:spTree>
    <p:extLst>
      <p:ext uri="{BB962C8B-B14F-4D97-AF65-F5344CB8AC3E}">
        <p14:creationId xmlns:p14="http://schemas.microsoft.com/office/powerpoint/2010/main" val="1251297992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DE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51DE4EB9-60C9-1641-9311-3E3AA9FE5E93}" type="slidenum">
              <a:rPr lang="en-DE" smtClean="0"/>
              <a:t>11</a:t>
            </a:fld>
            <a:endParaRPr lang="en-DE"/>
          </a:p>
        </p:txBody>
      </p:sp>
    </p:spTree>
    <p:extLst>
      <p:ext uri="{BB962C8B-B14F-4D97-AF65-F5344CB8AC3E}">
        <p14:creationId xmlns:p14="http://schemas.microsoft.com/office/powerpoint/2010/main" val="628477870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1524000" y="1122363"/>
            <a:ext cx="9144000" cy="2387600"/>
          </a:xfrm>
        </p:spPr>
        <p:txBody>
          <a:bodyPr anchor="b"/>
          <a:lstStyle>
            <a:lvl1pPr algn="ctr">
              <a:defRPr sz="6000"/>
            </a:lvl1pPr>
          </a:lstStyle>
          <a:p>
            <a:r>
              <a:rPr lang="en-GB"/>
              <a:t>Click to edit Master title style</a:t>
            </a:r>
            <a:endParaRPr lang="en-US" dirty="0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524000" y="3602038"/>
            <a:ext cx="9144000" cy="1655762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en-GB"/>
              <a:t>Click to edit Master subtitle style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A4084EF6-DEF1-E94D-B390-E1846AA13E25}" type="datetimeFigureOut">
              <a:rPr lang="en-DE" smtClean="0"/>
              <a:t>01.02.26</a:t>
            </a:fld>
            <a:endParaRPr lang="en-DE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DE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7332843-5F14-C94D-AB0E-E44EECA838C1}" type="slidenum">
              <a:rPr lang="en-DE" smtClean="0"/>
              <a:t>‹#›</a:t>
            </a:fld>
            <a:endParaRPr lang="en-DE"/>
          </a:p>
        </p:txBody>
      </p:sp>
    </p:spTree>
    <p:extLst>
      <p:ext uri="{BB962C8B-B14F-4D97-AF65-F5344CB8AC3E}">
        <p14:creationId xmlns:p14="http://schemas.microsoft.com/office/powerpoint/2010/main" val="2423289928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/>
              <a:t>Click to edit Master title style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GB"/>
              <a:t>Click to edit Master text styles</a:t>
            </a:r>
          </a:p>
          <a:p>
            <a:pPr lvl="1"/>
            <a:r>
              <a:rPr lang="en-GB"/>
              <a:t>Second level</a:t>
            </a:r>
          </a:p>
          <a:p>
            <a:pPr lvl="2"/>
            <a:r>
              <a:rPr lang="en-GB"/>
              <a:t>Third level</a:t>
            </a:r>
          </a:p>
          <a:p>
            <a:pPr lvl="3"/>
            <a:r>
              <a:rPr lang="en-GB"/>
              <a:t>Fourth level</a:t>
            </a:r>
          </a:p>
          <a:p>
            <a:pPr lvl="4"/>
            <a:r>
              <a:rPr lang="en-GB"/>
              <a:t>Fifth level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A4084EF6-DEF1-E94D-B390-E1846AA13E25}" type="datetimeFigureOut">
              <a:rPr lang="en-DE" smtClean="0"/>
              <a:t>01.02.26</a:t>
            </a:fld>
            <a:endParaRPr lang="en-DE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DE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7332843-5F14-C94D-AB0E-E44EECA838C1}" type="slidenum">
              <a:rPr lang="en-DE" smtClean="0"/>
              <a:t>‹#›</a:t>
            </a:fld>
            <a:endParaRPr lang="en-DE"/>
          </a:p>
        </p:txBody>
      </p:sp>
    </p:spTree>
    <p:extLst>
      <p:ext uri="{BB962C8B-B14F-4D97-AF65-F5344CB8AC3E}">
        <p14:creationId xmlns:p14="http://schemas.microsoft.com/office/powerpoint/2010/main" val="126917442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831850" y="1709738"/>
            <a:ext cx="10515600" cy="2852737"/>
          </a:xfrm>
        </p:spPr>
        <p:txBody>
          <a:bodyPr anchor="b"/>
          <a:lstStyle>
            <a:lvl1pPr>
              <a:defRPr sz="6000"/>
            </a:lvl1pPr>
          </a:lstStyle>
          <a:p>
            <a:r>
              <a:rPr lang="en-GB"/>
              <a:t>Click to edit Master title style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831850" y="4589463"/>
            <a:ext cx="10515600" cy="1500187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>
                    <a:shade val="82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shade val="82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shade val="82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shade val="82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shade val="82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shade val="82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shade val="82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shade val="82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shade val="82000"/>
                  </a:schemeClr>
                </a:solidFill>
              </a:defRPr>
            </a:lvl9pPr>
          </a:lstStyle>
          <a:p>
            <a:pPr lvl="0"/>
            <a:r>
              <a:rPr lang="en-GB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A4084EF6-DEF1-E94D-B390-E1846AA13E25}" type="datetimeFigureOut">
              <a:rPr lang="en-DE" smtClean="0"/>
              <a:t>01.02.26</a:t>
            </a:fld>
            <a:endParaRPr lang="en-DE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DE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7332843-5F14-C94D-AB0E-E44EECA838C1}" type="slidenum">
              <a:rPr lang="en-DE" smtClean="0"/>
              <a:t>‹#›</a:t>
            </a:fld>
            <a:endParaRPr lang="en-DE"/>
          </a:p>
        </p:txBody>
      </p:sp>
    </p:spTree>
    <p:extLst>
      <p:ext uri="{BB962C8B-B14F-4D97-AF65-F5344CB8AC3E}">
        <p14:creationId xmlns:p14="http://schemas.microsoft.com/office/powerpoint/2010/main" val="473412467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/>
              <a:t>Click to edit Master title style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838200" y="1825625"/>
            <a:ext cx="5181600" cy="4351338"/>
          </a:xfrm>
        </p:spPr>
        <p:txBody>
          <a:bodyPr/>
          <a:lstStyle/>
          <a:p>
            <a:pPr lvl="0"/>
            <a:r>
              <a:rPr lang="en-GB"/>
              <a:t>Click to edit Master text styles</a:t>
            </a:r>
          </a:p>
          <a:p>
            <a:pPr lvl="1"/>
            <a:r>
              <a:rPr lang="en-GB"/>
              <a:t>Second level</a:t>
            </a:r>
          </a:p>
          <a:p>
            <a:pPr lvl="2"/>
            <a:r>
              <a:rPr lang="en-GB"/>
              <a:t>Third level</a:t>
            </a:r>
          </a:p>
          <a:p>
            <a:pPr lvl="3"/>
            <a:r>
              <a:rPr lang="en-GB"/>
              <a:t>Fourth level</a:t>
            </a:r>
          </a:p>
          <a:p>
            <a:pPr lvl="4"/>
            <a:r>
              <a:rPr lang="en-GB"/>
              <a:t>Fifth level</a:t>
            </a:r>
            <a:endParaRPr lang="en-US" dirty="0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6172200" y="1825625"/>
            <a:ext cx="5181600" cy="4351338"/>
          </a:xfrm>
        </p:spPr>
        <p:txBody>
          <a:bodyPr/>
          <a:lstStyle/>
          <a:p>
            <a:pPr lvl="0"/>
            <a:r>
              <a:rPr lang="en-GB"/>
              <a:t>Click to edit Master text styles</a:t>
            </a:r>
          </a:p>
          <a:p>
            <a:pPr lvl="1"/>
            <a:r>
              <a:rPr lang="en-GB"/>
              <a:t>Second level</a:t>
            </a:r>
          </a:p>
          <a:p>
            <a:pPr lvl="2"/>
            <a:r>
              <a:rPr lang="en-GB"/>
              <a:t>Third level</a:t>
            </a:r>
          </a:p>
          <a:p>
            <a:pPr lvl="3"/>
            <a:r>
              <a:rPr lang="en-GB"/>
              <a:t>Fourth level</a:t>
            </a:r>
          </a:p>
          <a:p>
            <a:pPr lvl="4"/>
            <a:r>
              <a:rPr lang="en-GB"/>
              <a:t>Fifth level</a:t>
            </a:r>
            <a:endParaRPr lang="en-US" dirty="0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A4084EF6-DEF1-E94D-B390-E1846AA13E25}" type="datetimeFigureOut">
              <a:rPr lang="en-DE" smtClean="0"/>
              <a:t>01.02.26</a:t>
            </a:fld>
            <a:endParaRPr lang="en-DE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DE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7332843-5F14-C94D-AB0E-E44EECA838C1}" type="slidenum">
              <a:rPr lang="en-DE" smtClean="0"/>
              <a:t>‹#›</a:t>
            </a:fld>
            <a:endParaRPr lang="en-DE"/>
          </a:p>
        </p:txBody>
      </p:sp>
    </p:spTree>
    <p:extLst>
      <p:ext uri="{BB962C8B-B14F-4D97-AF65-F5344CB8AC3E}">
        <p14:creationId xmlns:p14="http://schemas.microsoft.com/office/powerpoint/2010/main" val="1192973470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839788" y="365125"/>
            <a:ext cx="10515600" cy="1325563"/>
          </a:xfrm>
        </p:spPr>
        <p:txBody>
          <a:bodyPr/>
          <a:lstStyle/>
          <a:p>
            <a:r>
              <a:rPr lang="en-GB"/>
              <a:t>Click to edit Master title style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839788" y="1681163"/>
            <a:ext cx="5157787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GB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839788" y="2505075"/>
            <a:ext cx="5157787" cy="3684588"/>
          </a:xfrm>
        </p:spPr>
        <p:txBody>
          <a:bodyPr/>
          <a:lstStyle/>
          <a:p>
            <a:pPr lvl="0"/>
            <a:r>
              <a:rPr lang="en-GB"/>
              <a:t>Click to edit Master text styles</a:t>
            </a:r>
          </a:p>
          <a:p>
            <a:pPr lvl="1"/>
            <a:r>
              <a:rPr lang="en-GB"/>
              <a:t>Second level</a:t>
            </a:r>
          </a:p>
          <a:p>
            <a:pPr lvl="2"/>
            <a:r>
              <a:rPr lang="en-GB"/>
              <a:t>Third level</a:t>
            </a:r>
          </a:p>
          <a:p>
            <a:pPr lvl="3"/>
            <a:r>
              <a:rPr lang="en-GB"/>
              <a:t>Fourth level</a:t>
            </a:r>
          </a:p>
          <a:p>
            <a:pPr lvl="4"/>
            <a:r>
              <a:rPr lang="en-GB"/>
              <a:t>Fifth level</a:t>
            </a:r>
            <a:endParaRPr lang="en-US" dirty="0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6172200" y="1681163"/>
            <a:ext cx="5183188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GB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6172200" y="2505075"/>
            <a:ext cx="5183188" cy="3684588"/>
          </a:xfrm>
        </p:spPr>
        <p:txBody>
          <a:bodyPr/>
          <a:lstStyle/>
          <a:p>
            <a:pPr lvl="0"/>
            <a:r>
              <a:rPr lang="en-GB"/>
              <a:t>Click to edit Master text styles</a:t>
            </a:r>
          </a:p>
          <a:p>
            <a:pPr lvl="1"/>
            <a:r>
              <a:rPr lang="en-GB"/>
              <a:t>Second level</a:t>
            </a:r>
          </a:p>
          <a:p>
            <a:pPr lvl="2"/>
            <a:r>
              <a:rPr lang="en-GB"/>
              <a:t>Third level</a:t>
            </a:r>
          </a:p>
          <a:p>
            <a:pPr lvl="3"/>
            <a:r>
              <a:rPr lang="en-GB"/>
              <a:t>Fourth level</a:t>
            </a:r>
          </a:p>
          <a:p>
            <a:pPr lvl="4"/>
            <a:r>
              <a:rPr lang="en-GB"/>
              <a:t>Fifth level</a:t>
            </a:r>
            <a:endParaRPr lang="en-US" dirty="0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A4084EF6-DEF1-E94D-B390-E1846AA13E25}" type="datetimeFigureOut">
              <a:rPr lang="en-DE" smtClean="0"/>
              <a:t>01.02.26</a:t>
            </a:fld>
            <a:endParaRPr lang="en-DE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DE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7332843-5F14-C94D-AB0E-E44EECA838C1}" type="slidenum">
              <a:rPr lang="en-DE" smtClean="0"/>
              <a:t>‹#›</a:t>
            </a:fld>
            <a:endParaRPr lang="en-DE"/>
          </a:p>
        </p:txBody>
      </p:sp>
    </p:spTree>
    <p:extLst>
      <p:ext uri="{BB962C8B-B14F-4D97-AF65-F5344CB8AC3E}">
        <p14:creationId xmlns:p14="http://schemas.microsoft.com/office/powerpoint/2010/main" val="3550132798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/>
              <a:t>Click to edit Master title style</a:t>
            </a:r>
            <a:endParaRPr lang="en-US" dirty="0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A4084EF6-DEF1-E94D-B390-E1846AA13E25}" type="datetimeFigureOut">
              <a:rPr lang="en-DE" smtClean="0"/>
              <a:t>01.02.26</a:t>
            </a:fld>
            <a:endParaRPr lang="en-DE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DE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7332843-5F14-C94D-AB0E-E44EECA838C1}" type="slidenum">
              <a:rPr lang="en-DE" smtClean="0"/>
              <a:t>‹#›</a:t>
            </a:fld>
            <a:endParaRPr lang="en-DE"/>
          </a:p>
        </p:txBody>
      </p:sp>
    </p:spTree>
    <p:extLst>
      <p:ext uri="{BB962C8B-B14F-4D97-AF65-F5344CB8AC3E}">
        <p14:creationId xmlns:p14="http://schemas.microsoft.com/office/powerpoint/2010/main" val="1460781584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A4084EF6-DEF1-E94D-B390-E1846AA13E25}" type="datetimeFigureOut">
              <a:rPr lang="en-DE" smtClean="0"/>
              <a:t>01.02.26</a:t>
            </a:fld>
            <a:endParaRPr lang="en-DE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DE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7332843-5F14-C94D-AB0E-E44EECA838C1}" type="slidenum">
              <a:rPr lang="en-DE" smtClean="0"/>
              <a:t>‹#›</a:t>
            </a:fld>
            <a:endParaRPr lang="en-DE"/>
          </a:p>
        </p:txBody>
      </p:sp>
    </p:spTree>
    <p:extLst>
      <p:ext uri="{BB962C8B-B14F-4D97-AF65-F5344CB8AC3E}">
        <p14:creationId xmlns:p14="http://schemas.microsoft.com/office/powerpoint/2010/main" val="1128875327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GB"/>
              <a:t>Click to edit Master title style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GB"/>
              <a:t>Click to edit Master text styles</a:t>
            </a:r>
          </a:p>
          <a:p>
            <a:pPr lvl="1"/>
            <a:r>
              <a:rPr lang="en-GB"/>
              <a:t>Second level</a:t>
            </a:r>
          </a:p>
          <a:p>
            <a:pPr lvl="2"/>
            <a:r>
              <a:rPr lang="en-GB"/>
              <a:t>Third level</a:t>
            </a:r>
          </a:p>
          <a:p>
            <a:pPr lvl="3"/>
            <a:r>
              <a:rPr lang="en-GB"/>
              <a:t>Fourth level</a:t>
            </a:r>
          </a:p>
          <a:p>
            <a:pPr lvl="4"/>
            <a:r>
              <a:rPr lang="en-GB"/>
              <a:t>Fifth level</a:t>
            </a:r>
            <a:endParaRPr lang="en-US" dirty="0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GB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A4084EF6-DEF1-E94D-B390-E1846AA13E25}" type="datetimeFigureOut">
              <a:rPr lang="en-DE" smtClean="0"/>
              <a:t>01.02.26</a:t>
            </a:fld>
            <a:endParaRPr lang="en-DE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DE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7332843-5F14-C94D-AB0E-E44EECA838C1}" type="slidenum">
              <a:rPr lang="en-DE" smtClean="0"/>
              <a:t>‹#›</a:t>
            </a:fld>
            <a:endParaRPr lang="en-DE"/>
          </a:p>
        </p:txBody>
      </p:sp>
    </p:spTree>
    <p:extLst>
      <p:ext uri="{BB962C8B-B14F-4D97-AF65-F5344CB8AC3E}">
        <p14:creationId xmlns:p14="http://schemas.microsoft.com/office/powerpoint/2010/main" val="210120810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GB"/>
              <a:t>Click to edit Master title style</a:t>
            </a:r>
            <a:endParaRPr lang="en-US" dirty="0"/>
          </a:p>
        </p:txBody>
      </p:sp>
      <p:sp>
        <p:nvSpPr>
          <p:cNvPr id="3" name="Picture Placeholder 2"/>
          <p:cNvSpPr>
            <a:spLocks noGrp="1" noChangeAspect="1"/>
          </p:cNvSpPr>
          <p:nvPr>
            <p:ph type="pic" idx="1"/>
          </p:nvPr>
        </p:nvSpPr>
        <p:spPr>
          <a:xfrm>
            <a:off x="5183188" y="987425"/>
            <a:ext cx="6172200" cy="4873625"/>
          </a:xfrm>
        </p:spPr>
        <p:txBody>
          <a:bodyPr anchor="t"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r>
              <a:rPr lang="en-GB"/>
              <a:t>Click icon to add picture</a:t>
            </a:r>
            <a:endParaRPr lang="en-US" dirty="0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GB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A4084EF6-DEF1-E94D-B390-E1846AA13E25}" type="datetimeFigureOut">
              <a:rPr lang="en-DE" smtClean="0"/>
              <a:t>01.02.26</a:t>
            </a:fld>
            <a:endParaRPr lang="en-DE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DE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7332843-5F14-C94D-AB0E-E44EECA838C1}" type="slidenum">
              <a:rPr lang="en-DE" smtClean="0"/>
              <a:t>‹#›</a:t>
            </a:fld>
            <a:endParaRPr lang="en-DE"/>
          </a:p>
        </p:txBody>
      </p:sp>
    </p:spTree>
    <p:extLst>
      <p:ext uri="{BB962C8B-B14F-4D97-AF65-F5344CB8AC3E}">
        <p14:creationId xmlns:p14="http://schemas.microsoft.com/office/powerpoint/2010/main" val="3978610638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/>
              <a:t>Click to edit Master title style</a:t>
            </a:r>
            <a:endParaRPr lang="en-US" dirty="0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GB"/>
              <a:t>Click to edit Master text styles</a:t>
            </a:r>
          </a:p>
          <a:p>
            <a:pPr lvl="1"/>
            <a:r>
              <a:rPr lang="en-GB"/>
              <a:t>Second level</a:t>
            </a:r>
          </a:p>
          <a:p>
            <a:pPr lvl="2"/>
            <a:r>
              <a:rPr lang="en-GB"/>
              <a:t>Third level</a:t>
            </a:r>
          </a:p>
          <a:p>
            <a:pPr lvl="3"/>
            <a:r>
              <a:rPr lang="en-GB"/>
              <a:t>Fourth level</a:t>
            </a:r>
          </a:p>
          <a:p>
            <a:pPr lvl="4"/>
            <a:r>
              <a:rPr lang="en-GB"/>
              <a:t>Fifth level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A4084EF6-DEF1-E94D-B390-E1846AA13E25}" type="datetimeFigureOut">
              <a:rPr lang="en-DE" smtClean="0"/>
              <a:t>01.02.26</a:t>
            </a:fld>
            <a:endParaRPr lang="en-DE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DE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7332843-5F14-C94D-AB0E-E44EECA838C1}" type="slidenum">
              <a:rPr lang="en-DE" smtClean="0"/>
              <a:t>‹#›</a:t>
            </a:fld>
            <a:endParaRPr lang="en-DE"/>
          </a:p>
        </p:txBody>
      </p:sp>
    </p:spTree>
    <p:extLst>
      <p:ext uri="{BB962C8B-B14F-4D97-AF65-F5344CB8AC3E}">
        <p14:creationId xmlns:p14="http://schemas.microsoft.com/office/powerpoint/2010/main" val="3677155649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8724900" y="365125"/>
            <a:ext cx="2628900" cy="5811838"/>
          </a:xfrm>
        </p:spPr>
        <p:txBody>
          <a:bodyPr vert="eaVert"/>
          <a:lstStyle/>
          <a:p>
            <a:r>
              <a:rPr lang="en-GB"/>
              <a:t>Click to edit Master title style</a:t>
            </a:r>
            <a:endParaRPr lang="en-US" dirty="0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838200" y="365125"/>
            <a:ext cx="7734300" cy="5811838"/>
          </a:xfrm>
        </p:spPr>
        <p:txBody>
          <a:bodyPr vert="eaVert"/>
          <a:lstStyle/>
          <a:p>
            <a:pPr lvl="0"/>
            <a:r>
              <a:rPr lang="en-GB"/>
              <a:t>Click to edit Master text styles</a:t>
            </a:r>
          </a:p>
          <a:p>
            <a:pPr lvl="1"/>
            <a:r>
              <a:rPr lang="en-GB"/>
              <a:t>Second level</a:t>
            </a:r>
          </a:p>
          <a:p>
            <a:pPr lvl="2"/>
            <a:r>
              <a:rPr lang="en-GB"/>
              <a:t>Third level</a:t>
            </a:r>
          </a:p>
          <a:p>
            <a:pPr lvl="3"/>
            <a:r>
              <a:rPr lang="en-GB"/>
              <a:t>Fourth level</a:t>
            </a:r>
          </a:p>
          <a:p>
            <a:pPr lvl="4"/>
            <a:r>
              <a:rPr lang="en-GB"/>
              <a:t>Fifth level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A4084EF6-DEF1-E94D-B390-E1846AA13E25}" type="datetimeFigureOut">
              <a:rPr lang="en-DE" smtClean="0"/>
              <a:t>01.02.26</a:t>
            </a:fld>
            <a:endParaRPr lang="en-DE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DE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7332843-5F14-C94D-AB0E-E44EECA838C1}" type="slidenum">
              <a:rPr lang="en-DE" smtClean="0"/>
              <a:t>‹#›</a:t>
            </a:fld>
            <a:endParaRPr lang="en-DE"/>
          </a:p>
        </p:txBody>
      </p:sp>
    </p:spTree>
    <p:extLst>
      <p:ext uri="{BB962C8B-B14F-4D97-AF65-F5344CB8AC3E}">
        <p14:creationId xmlns:p14="http://schemas.microsoft.com/office/powerpoint/2010/main" val="1885438708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121212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GB"/>
              <a:t>Click to edit Master title style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GB" dirty="0"/>
              <a:t>Click to edit Master text styles</a:t>
            </a:r>
          </a:p>
          <a:p>
            <a:pPr lvl="1"/>
            <a:r>
              <a:rPr lang="en-GB" dirty="0"/>
              <a:t>Second level</a:t>
            </a:r>
          </a:p>
          <a:p>
            <a:pPr lvl="2"/>
            <a:r>
              <a:rPr lang="en-GB" dirty="0"/>
              <a:t>Third level</a:t>
            </a:r>
          </a:p>
          <a:p>
            <a:pPr lvl="3"/>
            <a:r>
              <a:rPr lang="en-GB" dirty="0"/>
              <a:t>Fourth level</a:t>
            </a:r>
          </a:p>
          <a:p>
            <a:pPr lvl="4"/>
            <a:r>
              <a:rPr lang="en-GB" dirty="0"/>
              <a:t>Fifth level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shade val="82000"/>
                  </a:schemeClr>
                </a:solidFill>
              </a:defRPr>
            </a:lvl1pPr>
          </a:lstStyle>
          <a:p>
            <a:fld id="{A4084EF6-DEF1-E94D-B390-E1846AA13E25}" type="datetimeFigureOut">
              <a:rPr lang="en-DE" smtClean="0"/>
              <a:t>01.02.26</a:t>
            </a:fld>
            <a:endParaRPr lang="en-DE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shade val="82000"/>
                  </a:schemeClr>
                </a:solidFill>
              </a:defRPr>
            </a:lvl1pPr>
          </a:lstStyle>
          <a:p>
            <a:endParaRPr lang="en-DE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shade val="82000"/>
                  </a:schemeClr>
                </a:solidFill>
              </a:defRPr>
            </a:lvl1pPr>
          </a:lstStyle>
          <a:p>
            <a:fld id="{B7332843-5F14-C94D-AB0E-E44EECA838C1}" type="slidenum">
              <a:rPr lang="en-DE" smtClean="0"/>
              <a:t>‹#›</a:t>
            </a:fld>
            <a:endParaRPr lang="en-DE"/>
          </a:p>
        </p:txBody>
      </p:sp>
    </p:spTree>
    <p:extLst>
      <p:ext uri="{BB962C8B-B14F-4D97-AF65-F5344CB8AC3E}">
        <p14:creationId xmlns:p14="http://schemas.microsoft.com/office/powerpoint/2010/main" val="2134738783"/>
      </p:ext>
    </p:extLst>
  </p:cSld>
  <p:clrMap bg1="dk1" tx1="lt1" bg2="dk2" tx2="lt2" accent1="accent1" accent2="accent2" accent3="accent3" accent4="accent4" accent5="accent5" accent6="accent6" hlink="hlink" folHlink="folHlink"/>
  <p:sldLayoutIdLst>
    <p:sldLayoutId id="2147483661" r:id="rId1"/>
    <p:sldLayoutId id="2147483662" r:id="rId2"/>
    <p:sldLayoutId id="2147483663" r:id="rId3"/>
    <p:sldLayoutId id="2147483664" r:id="rId4"/>
    <p:sldLayoutId id="2147483665" r:id="rId5"/>
    <p:sldLayoutId id="2147483666" r:id="rId6"/>
    <p:sldLayoutId id="2147483667" r:id="rId7"/>
    <p:sldLayoutId id="2147483668" r:id="rId8"/>
    <p:sldLayoutId id="2147483669" r:id="rId9"/>
    <p:sldLayoutId id="2147483670" r:id="rId10"/>
    <p:sldLayoutId id="2147483671" r:id="rId11"/>
  </p:sldLayoutIdLst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png"/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2.xml"/></Relationships>
</file>

<file path=ppt/slides/_rels/slide2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.xml"/><Relationship Id="rId1" Type="http://schemas.openxmlformats.org/officeDocument/2006/relationships/slideLayout" Target="../slideLayouts/slideLayout2.xml"/></Relationships>
</file>

<file path=ppt/slides/_rels/slide3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3.xml"/><Relationship Id="rId1" Type="http://schemas.openxmlformats.org/officeDocument/2006/relationships/slideLayout" Target="../slideLayouts/slideLayout2.xml"/></Relationships>
</file>

<file path=ppt/slides/_rels/slide4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4.xml"/><Relationship Id="rId1" Type="http://schemas.openxmlformats.org/officeDocument/2006/relationships/slideLayout" Target="../slideLayouts/slideLayout2.xml"/></Relationships>
</file>

<file path=ppt/slides/_rels/slide5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5.xml"/><Relationship Id="rId1" Type="http://schemas.openxmlformats.org/officeDocument/2006/relationships/slideLayout" Target="../slideLayouts/slideLayout2.xml"/></Relationships>
</file>

<file path=ppt/slides/_rels/slide6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6.xml"/><Relationship Id="rId1" Type="http://schemas.openxmlformats.org/officeDocument/2006/relationships/slideLayout" Target="../slideLayouts/slideLayout2.xml"/></Relationships>
</file>

<file path=ppt/slides/_rels/slide7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notesSlide" Target="../notesSlides/notesSlide7.xml"/><Relationship Id="rId1" Type="http://schemas.openxmlformats.org/officeDocument/2006/relationships/slideLayout" Target="../slideLayouts/slideLayout2.xml"/><Relationship Id="rId5" Type="http://schemas.openxmlformats.org/officeDocument/2006/relationships/image" Target="../media/image4.png"/><Relationship Id="rId4" Type="http://schemas.openxmlformats.org/officeDocument/2006/relationships/image" Target="../media/image3.png"/></Relationships>
</file>

<file path=ppt/slides/_rels/slide8.xml.rels><?xml version="1.0" encoding="UTF-8" standalone="yes"?>
<Relationships xmlns="http://schemas.openxmlformats.org/package/2006/relationships"><Relationship Id="rId3" Type="http://schemas.openxmlformats.org/officeDocument/2006/relationships/image" Target="../media/image5.png"/><Relationship Id="rId2" Type="http://schemas.openxmlformats.org/officeDocument/2006/relationships/notesSlide" Target="../notesSlides/notesSlide8.xml"/><Relationship Id="rId1" Type="http://schemas.openxmlformats.org/officeDocument/2006/relationships/slideLayout" Target="../slideLayouts/slideLayout2.xml"/></Relationships>
</file>

<file path=ppt/slides/_rels/slide9.xml.rels><?xml version="1.0" encoding="UTF-8" standalone="yes"?>
<Relationships xmlns="http://schemas.openxmlformats.org/package/2006/relationships"><Relationship Id="rId3" Type="http://schemas.openxmlformats.org/officeDocument/2006/relationships/image" Target="../media/image6.png"/><Relationship Id="rId2" Type="http://schemas.openxmlformats.org/officeDocument/2006/relationships/notesSlide" Target="../notesSlides/notesSlide9.xml"/><Relationship Id="rId1" Type="http://schemas.openxmlformats.org/officeDocument/2006/relationships/slideLayout" Target="../slideLayouts/slideLayout2.xml"/></Relationships>
</file>

<file path=ppt/slides/_rels/slide10.xml.rels><?xml version="1.0" encoding="UTF-8" standalone="yes"?>
<Relationships xmlns="http://schemas.openxmlformats.org/package/2006/relationships"><Relationship Id="rId3" Type="http://schemas.openxmlformats.org/officeDocument/2006/relationships/image" Target="../media/image7.png"/><Relationship Id="rId2" Type="http://schemas.openxmlformats.org/officeDocument/2006/relationships/notesSlide" Target="../notesSlides/notesSlide10.xml"/><Relationship Id="rId1" Type="http://schemas.openxmlformats.org/officeDocument/2006/relationships/slideLayout" Target="../slideLayouts/slideLayout2.xml"/></Relationships>
</file>

<file path=ppt/slides/_rels/slide11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1.xml"/><Relationship Id="rId1" Type="http://schemas.openxmlformats.org/officeDocument/2006/relationships/slideLayout" Target="../slideLayouts/slideLayout2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121212"/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D5BD5F6A-98F1-DB53-F564-A377314527E0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0" name="Picture 9" descr="A white and gray head with different symbols&#10;&#10;AI-generated content may be incorrect.">
            <a:extLst>
              <a:ext uri="{FF2B5EF4-FFF2-40B4-BE49-F238E27FC236}">
                <a16:creationId xmlns:a16="http://schemas.microsoft.com/office/drawing/2014/main" id="{97086B5C-E821-1CEF-29A9-B3393DC77A72}"/>
              </a:ext>
            </a:extLst>
          </p:cNvPr>
          <p:cNvPicPr>
            <a:picLocks noChangeAspect="1"/>
          </p:cNvPicPr>
          <p:nvPr/>
        </p:nvPicPr>
        <p:blipFill>
          <a:blip r:embed="rId3">
            <a:alphaModFix amt="40000"/>
          </a:blip>
          <a:srcRect t="13279" b="2451"/>
          <a:stretch>
            <a:fillRect/>
          </a:stretch>
        </p:blipFill>
        <p:spPr>
          <a:xfrm>
            <a:off x="20" y="2348"/>
            <a:ext cx="12191980" cy="6857990"/>
          </a:xfrm>
          <a:prstGeom prst="rect">
            <a:avLst/>
          </a:prstGeom>
        </p:spPr>
      </p:pic>
      <p:sp>
        <p:nvSpPr>
          <p:cNvPr id="2" name="Title 1">
            <a:extLst>
              <a:ext uri="{FF2B5EF4-FFF2-40B4-BE49-F238E27FC236}">
                <a16:creationId xmlns:a16="http://schemas.microsoft.com/office/drawing/2014/main" id="{3F953337-8C2A-46D6-1932-726DD8BF239D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965200" y="965200"/>
            <a:ext cx="10261600" cy="3564869"/>
          </a:xfrm>
        </p:spPr>
        <p:txBody>
          <a:bodyPr vert="horz" lIns="91440" tIns="45720" rIns="91440" bIns="45720" rtlCol="0" anchor="b">
            <a:normAutofit/>
          </a:bodyPr>
          <a:lstStyle/>
          <a:p>
            <a:r>
              <a:rPr lang="en-US" sz="11500">
                <a:ln w="22225">
                  <a:solidFill>
                    <a:schemeClr val="tx1"/>
                  </a:solidFill>
                  <a:miter lim="800000"/>
                </a:ln>
                <a:noFill/>
              </a:rPr>
              <a:t>Trusting the Good News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AC26B382-EAB5-48AD-A7BA-B20D5A820026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965200" y="4572002"/>
            <a:ext cx="10261600" cy="1202995"/>
          </a:xfrm>
        </p:spPr>
        <p:txBody>
          <a:bodyPr vert="horz" lIns="91440" tIns="45720" rIns="91440" bIns="45720" rtlCol="0">
            <a:normAutofit/>
          </a:bodyPr>
          <a:lstStyle/>
          <a:p>
            <a:pPr marL="0" indent="0">
              <a:buNone/>
            </a:pPr>
            <a:r>
              <a:rPr lang="en-US" sz="3200" dirty="0"/>
              <a:t>What do you think, do you trust good news more than bad news ? </a:t>
            </a:r>
          </a:p>
        </p:txBody>
      </p:sp>
    </p:spTree>
    <p:extLst>
      <p:ext uri="{BB962C8B-B14F-4D97-AF65-F5344CB8AC3E}">
        <p14:creationId xmlns:p14="http://schemas.microsoft.com/office/powerpoint/2010/main" val="2920465297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B78D0742-C6AC-65E3-8E52-3B63604D30C2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539DFDE5-A35C-7E72-3E72-3CEC4081DE9E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DE" dirty="0"/>
              <a:t>Research Question Details</a:t>
            </a:r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D68388EC-D55D-4AD8-5804-61D6405B17EC}"/>
              </a:ext>
            </a:extLst>
          </p:cNvPr>
          <p:cNvSpPr txBox="1"/>
          <p:nvPr/>
        </p:nvSpPr>
        <p:spPr>
          <a:xfrm>
            <a:off x="1408289" y="2644170"/>
            <a:ext cx="9375422" cy="156966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GB" sz="2400" i="1" dirty="0"/>
              <a:t>Do people engage in motivated reasoning just because news is “good” rather than “bad,” when ego, identity, and functional incentives are stripped away?</a:t>
            </a:r>
            <a:endParaRPr lang="en-DE" sz="2400" i="1" dirty="0"/>
          </a:p>
          <a:p>
            <a:endParaRPr lang="en-DE" sz="2400" i="1" dirty="0"/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19E71385-FDF7-99A2-ACFD-96BF33753B5C}"/>
              </a:ext>
            </a:extLst>
          </p:cNvPr>
          <p:cNvSpPr txBox="1"/>
          <p:nvPr/>
        </p:nvSpPr>
        <p:spPr>
          <a:xfrm>
            <a:off x="4955823" y="6185098"/>
            <a:ext cx="7236177" cy="30777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GB" sz="1400" dirty="0"/>
              <a:t>Good News Is Not a Sufficient Condition for Motivated Reasoning (M. Thaler,  2025)</a:t>
            </a:r>
          </a:p>
        </p:txBody>
      </p:sp>
    </p:spTree>
    <p:extLst>
      <p:ext uri="{BB962C8B-B14F-4D97-AF65-F5344CB8AC3E}">
        <p14:creationId xmlns:p14="http://schemas.microsoft.com/office/powerpoint/2010/main" val="1185796666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210AB24A-EE79-A811-445F-90F4A186E33B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DE" dirty="0"/>
              <a:t>Question</a:t>
            </a:r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D0CFA646-49FC-77E3-C156-FA9CAEA62E46}"/>
              </a:ext>
            </a:extLst>
          </p:cNvPr>
          <p:cNvSpPr txBox="1"/>
          <p:nvPr/>
        </p:nvSpPr>
        <p:spPr>
          <a:xfrm>
            <a:off x="1539289" y="2614904"/>
            <a:ext cx="9507731" cy="1477328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GB" dirty="0"/>
              <a:t>The Department of Peace and Conflict Research estimates that 45.8 thousand people were</a:t>
            </a:r>
          </a:p>
          <a:p>
            <a:r>
              <a:rPr lang="en-GB" dirty="0"/>
              <a:t>killed per year in battles in the fifteen years from 1989-2003.</a:t>
            </a:r>
          </a:p>
          <a:p>
            <a:r>
              <a:rPr lang="en-GB" dirty="0"/>
              <a:t>How many thousands of people were killed per year in battles in the fifteen years from</a:t>
            </a:r>
          </a:p>
          <a:p>
            <a:r>
              <a:rPr lang="en-GB" dirty="0"/>
              <a:t>2004-2018?</a:t>
            </a:r>
          </a:p>
          <a:p>
            <a:endParaRPr lang="en-DE" dirty="0"/>
          </a:p>
        </p:txBody>
      </p:sp>
    </p:spTree>
    <p:extLst>
      <p:ext uri="{BB962C8B-B14F-4D97-AF65-F5344CB8AC3E}">
        <p14:creationId xmlns:p14="http://schemas.microsoft.com/office/powerpoint/2010/main" val="397113466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1F59A0AF-4F5D-9CE7-6B99-4F10E9413EF3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DE" dirty="0"/>
              <a:t>Feedback</a:t>
            </a:r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3D9D0AB3-DD8A-BD1E-919B-D3F83DC9DE85}"/>
              </a:ext>
            </a:extLst>
          </p:cNvPr>
          <p:cNvSpPr txBox="1"/>
          <p:nvPr/>
        </p:nvSpPr>
        <p:spPr>
          <a:xfrm>
            <a:off x="314129" y="4205484"/>
            <a:ext cx="5609741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DE" dirty="0"/>
              <a:t>Good News – Actually the value is lower as you thought</a:t>
            </a:r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C4E547A7-DCB0-FA68-6179-3792416F1D07}"/>
              </a:ext>
            </a:extLst>
          </p:cNvPr>
          <p:cNvSpPr txBox="1"/>
          <p:nvPr/>
        </p:nvSpPr>
        <p:spPr>
          <a:xfrm>
            <a:off x="6273823" y="2098179"/>
            <a:ext cx="5527667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DE" dirty="0"/>
              <a:t>Bad News – Actually the value is higher as you thought</a:t>
            </a:r>
          </a:p>
        </p:txBody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id="{D190FF86-8BC8-5C62-01D7-B671F5D92206}"/>
              </a:ext>
            </a:extLst>
          </p:cNvPr>
          <p:cNvSpPr txBox="1"/>
          <p:nvPr/>
        </p:nvSpPr>
        <p:spPr>
          <a:xfrm>
            <a:off x="5849778" y="3244334"/>
            <a:ext cx="492443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DE" dirty="0"/>
              <a:t>OR</a:t>
            </a:r>
          </a:p>
        </p:txBody>
      </p:sp>
    </p:spTree>
    <p:extLst>
      <p:ext uri="{BB962C8B-B14F-4D97-AF65-F5344CB8AC3E}">
        <p14:creationId xmlns:p14="http://schemas.microsoft.com/office/powerpoint/2010/main" val="2036046616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0543C8C8-1470-42EB-7490-FA06176E12DD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AD4DA228-DD58-13AE-21D5-637DFF814758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DE" dirty="0"/>
              <a:t>Guessing  Probability</a:t>
            </a:r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C7A57204-5309-CE49-2D93-074E769A6DBB}"/>
              </a:ext>
            </a:extLst>
          </p:cNvPr>
          <p:cNvSpPr txBox="1"/>
          <p:nvPr/>
        </p:nvSpPr>
        <p:spPr>
          <a:xfrm>
            <a:off x="1749777" y="3059668"/>
            <a:ext cx="6494791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DE" dirty="0"/>
              <a:t>How likely is it that the message came from a true news source ?</a:t>
            </a:r>
          </a:p>
        </p:txBody>
      </p:sp>
      <p:cxnSp>
        <p:nvCxnSpPr>
          <p:cNvPr id="7" name="Straight Connector 6">
            <a:extLst>
              <a:ext uri="{FF2B5EF4-FFF2-40B4-BE49-F238E27FC236}">
                <a16:creationId xmlns:a16="http://schemas.microsoft.com/office/drawing/2014/main" id="{7C13871C-3E21-6422-4F48-23B2794DA956}"/>
              </a:ext>
            </a:extLst>
          </p:cNvPr>
          <p:cNvCxnSpPr/>
          <p:nvPr/>
        </p:nvCxnSpPr>
        <p:spPr>
          <a:xfrm>
            <a:off x="2269067" y="4014801"/>
            <a:ext cx="7202311" cy="0"/>
          </a:xfrm>
          <a:prstGeom prst="line">
            <a:avLst/>
          </a:prstGeom>
          <a:ln>
            <a:solidFill>
              <a:schemeClr val="tx1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9" name="Straight Connector 8">
            <a:extLst>
              <a:ext uri="{FF2B5EF4-FFF2-40B4-BE49-F238E27FC236}">
                <a16:creationId xmlns:a16="http://schemas.microsoft.com/office/drawing/2014/main" id="{1C4EACB8-013F-A569-6B0E-0E2F73AEAB22}"/>
              </a:ext>
            </a:extLst>
          </p:cNvPr>
          <p:cNvCxnSpPr/>
          <p:nvPr/>
        </p:nvCxnSpPr>
        <p:spPr>
          <a:xfrm>
            <a:off x="2269067" y="3800312"/>
            <a:ext cx="0" cy="383822"/>
          </a:xfrm>
          <a:prstGeom prst="line">
            <a:avLst/>
          </a:prstGeom>
          <a:ln>
            <a:solidFill>
              <a:schemeClr val="tx1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0" name="Straight Connector 9">
            <a:extLst>
              <a:ext uri="{FF2B5EF4-FFF2-40B4-BE49-F238E27FC236}">
                <a16:creationId xmlns:a16="http://schemas.microsoft.com/office/drawing/2014/main" id="{90559EB6-9D6E-C180-FF11-9D7E88D00188}"/>
              </a:ext>
            </a:extLst>
          </p:cNvPr>
          <p:cNvCxnSpPr/>
          <p:nvPr/>
        </p:nvCxnSpPr>
        <p:spPr>
          <a:xfrm>
            <a:off x="9465734" y="3822890"/>
            <a:ext cx="0" cy="383822"/>
          </a:xfrm>
          <a:prstGeom prst="line">
            <a:avLst/>
          </a:prstGeom>
          <a:ln>
            <a:solidFill>
              <a:schemeClr val="tx1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1" name="TextBox 10">
            <a:extLst>
              <a:ext uri="{FF2B5EF4-FFF2-40B4-BE49-F238E27FC236}">
                <a16:creationId xmlns:a16="http://schemas.microsoft.com/office/drawing/2014/main" id="{3E9AB1CC-B806-F767-95BB-3DCC5F554107}"/>
              </a:ext>
            </a:extLst>
          </p:cNvPr>
          <p:cNvSpPr txBox="1"/>
          <p:nvPr/>
        </p:nvSpPr>
        <p:spPr>
          <a:xfrm>
            <a:off x="2115018" y="4376045"/>
            <a:ext cx="308098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DE" dirty="0"/>
              <a:t>1</a:t>
            </a:r>
          </a:p>
        </p:txBody>
      </p:sp>
      <p:sp>
        <p:nvSpPr>
          <p:cNvPr id="12" name="TextBox 11">
            <a:extLst>
              <a:ext uri="{FF2B5EF4-FFF2-40B4-BE49-F238E27FC236}">
                <a16:creationId xmlns:a16="http://schemas.microsoft.com/office/drawing/2014/main" id="{B548701A-3C8F-A2B4-6DA8-85F5F16BC6FB}"/>
              </a:ext>
            </a:extLst>
          </p:cNvPr>
          <p:cNvSpPr txBox="1"/>
          <p:nvPr/>
        </p:nvSpPr>
        <p:spPr>
          <a:xfrm>
            <a:off x="9249970" y="4376045"/>
            <a:ext cx="431528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DE" dirty="0"/>
              <a:t>10</a:t>
            </a:r>
          </a:p>
        </p:txBody>
      </p:sp>
      <p:sp>
        <p:nvSpPr>
          <p:cNvPr id="13" name="Oval 12">
            <a:extLst>
              <a:ext uri="{FF2B5EF4-FFF2-40B4-BE49-F238E27FC236}">
                <a16:creationId xmlns:a16="http://schemas.microsoft.com/office/drawing/2014/main" id="{E7359F9F-A3C6-3DA3-F436-BF43B2936921}"/>
              </a:ext>
            </a:extLst>
          </p:cNvPr>
          <p:cNvSpPr/>
          <p:nvPr/>
        </p:nvSpPr>
        <p:spPr>
          <a:xfrm>
            <a:off x="6006311" y="3924801"/>
            <a:ext cx="180000" cy="180000"/>
          </a:xfrm>
          <a:prstGeom prst="ellipse">
            <a:avLst/>
          </a:prstGeom>
          <a:solidFill>
            <a:schemeClr val="tx1"/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DE"/>
          </a:p>
        </p:txBody>
      </p:sp>
    </p:spTree>
    <p:extLst>
      <p:ext uri="{BB962C8B-B14F-4D97-AF65-F5344CB8AC3E}">
        <p14:creationId xmlns:p14="http://schemas.microsoft.com/office/powerpoint/2010/main" val="2297039707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17A82473-A072-CAE6-FE52-25806EDE1BD1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3AF8EFBC-BB83-11D7-BB83-7DEFB176A6F8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DE" dirty="0"/>
              <a:t>Experiment Setup Explain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353E206E-CC1A-6692-A831-D882224EB954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GB" dirty="0"/>
              <a:t>&gt;6,000 observations</a:t>
            </a:r>
          </a:p>
          <a:p>
            <a:r>
              <a:rPr lang="en-GB" dirty="0"/>
              <a:t>~1,900 participant</a:t>
            </a:r>
          </a:p>
          <a:p>
            <a:r>
              <a:rPr lang="en-GB" dirty="0"/>
              <a:t>3 Waves</a:t>
            </a:r>
          </a:p>
          <a:p>
            <a:endParaRPr lang="en-GB" dirty="0"/>
          </a:p>
          <a:p>
            <a:endParaRPr lang="en-GB" dirty="0"/>
          </a:p>
          <a:p>
            <a:endParaRPr lang="en-DE" dirty="0"/>
          </a:p>
        </p:txBody>
      </p:sp>
    </p:spTree>
    <p:extLst>
      <p:ext uri="{BB962C8B-B14F-4D97-AF65-F5344CB8AC3E}">
        <p14:creationId xmlns:p14="http://schemas.microsoft.com/office/powerpoint/2010/main" val="635300643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93D4C2EF-77C5-A39B-0FA4-BCC6E9063B17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52E42F8A-C4A9-C9CD-855F-4B36D2038E62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DE" dirty="0"/>
              <a:t>Regression Specifications</a:t>
            </a:r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8" name="TextBox 7">
                <a:extLst>
                  <a:ext uri="{FF2B5EF4-FFF2-40B4-BE49-F238E27FC236}">
                    <a16:creationId xmlns:a16="http://schemas.microsoft.com/office/drawing/2014/main" id="{ED5C3026-FAD4-C1BA-8AC6-1698827C2EEC}"/>
                  </a:ext>
                </a:extLst>
              </p:cNvPr>
              <p:cNvSpPr txBox="1"/>
              <p:nvPr/>
            </p:nvSpPr>
            <p:spPr>
              <a:xfrm>
                <a:off x="694931" y="3188132"/>
                <a:ext cx="10802137" cy="481735"/>
              </a:xfrm>
              <a:prstGeom prst="rect">
                <a:avLst/>
              </a:prstGeom>
              <a:noFill/>
            </p:spPr>
            <p:txBody>
              <a:bodyPr wrap="square" lIns="0" tIns="0" rIns="0" bIns="0" rtlCol="0">
                <a:spAutoFit/>
              </a:bodyPr>
              <a:lstStyle/>
              <a:p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en-DE" sz="2800" i="1" smtClea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DE" sz="2800" i="1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𝛼</m:t>
                          </m:r>
                        </m:e>
                        <m:sub>
                          <m:r>
                            <a:rPr lang="en-US" sz="2800" b="0" i="1" smtClean="0">
                              <a:latin typeface="Cambria Math" panose="02040503050406030204" pitchFamily="18" charset="0"/>
                            </a:rPr>
                            <m:t>𝑖𝑞𝑟</m:t>
                          </m:r>
                        </m:sub>
                      </m:sSub>
                      <m:r>
                        <a:rPr lang="en-US" sz="2800" b="0" i="1" smtClean="0">
                          <a:latin typeface="Cambria Math" panose="02040503050406030204" pitchFamily="18" charset="0"/>
                        </a:rPr>
                        <m:t>=</m:t>
                      </m:r>
                      <m:r>
                        <a:rPr lang="en-DE" sz="2800" i="1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𝛼</m:t>
                      </m:r>
                      <m:r>
                        <a:rPr lang="en-US" sz="2800" b="0" i="1" smtClean="0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+</m:t>
                      </m:r>
                      <m:r>
                        <a:rPr lang="en-US" sz="2800" b="0" i="1" smtClean="0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𝛽</m:t>
                      </m:r>
                      <m:r>
                        <a:rPr lang="en-US" sz="2800" b="0" i="1" smtClean="0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∙</m:t>
                      </m:r>
                      <m:sSub>
                        <m:sSubPr>
                          <m:ctrlPr>
                            <a:rPr lang="en-US" sz="2800" b="0" i="1" smtClean="0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sz="2800" i="1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1</m:t>
                          </m:r>
                          <m:d>
                            <m:dPr>
                              <m:ctrlPr>
                                <a:rPr lang="en-US" sz="2800" i="1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</m:ctrlPr>
                            </m:dPr>
                            <m:e>
                              <m:r>
                                <a:rPr lang="en-US" sz="2800" i="1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𝐺𝑜𝑜𝑑</m:t>
                              </m:r>
                              <m:r>
                                <a:rPr lang="en-US" sz="2800" i="1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 </m:t>
                              </m:r>
                              <m:r>
                                <a:rPr lang="en-US" sz="2800" i="1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𝑁𝑒𝑤𝑠</m:t>
                              </m:r>
                            </m:e>
                          </m:d>
                        </m:e>
                        <m:sub>
                          <m:r>
                            <a:rPr lang="en-US" sz="2800" b="0" i="1" smtClean="0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𝑖𝑞𝑟</m:t>
                          </m:r>
                        </m:sub>
                      </m:sSub>
                      <m:r>
                        <a:rPr lang="en-US" sz="2800" b="0" i="1" smtClean="0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+</m:t>
                      </m:r>
                      <m:sSup>
                        <m:sSupPr>
                          <m:ctrlPr>
                            <a:rPr lang="en-US" sz="2800" b="0" i="1" smtClean="0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</m:ctrlPr>
                        </m:sSupPr>
                        <m:e>
                          <m:r>
                            <a:rPr lang="en-US" sz="2800" i="1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𝛾</m:t>
                          </m:r>
                        </m:e>
                        <m:sup>
                          <m:r>
                            <a:rPr lang="en-US" sz="2800" b="0" i="1" smtClean="0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𝑐𝑜𝑛𝑡𝑟𝑜𝑙𝑠</m:t>
                          </m:r>
                        </m:sup>
                      </m:sSup>
                      <m:sSub>
                        <m:sSubPr>
                          <m:ctrlPr>
                            <a:rPr lang="en-US" sz="2800" b="0" i="1" smtClean="0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sz="2800" i="1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𝑧</m:t>
                          </m:r>
                        </m:e>
                        <m:sub>
                          <m:r>
                            <a:rPr lang="en-US" sz="2800" b="0" i="1" smtClean="0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𝑖</m:t>
                          </m:r>
                        </m:sub>
                      </m:sSub>
                      <m:r>
                        <a:rPr lang="en-US" sz="2800" b="0" i="1" smtClean="0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+</m:t>
                      </m:r>
                      <m:r>
                        <a:rPr lang="en-US" sz="2800" b="0" i="1" smtClean="0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𝛿</m:t>
                      </m:r>
                      <m:r>
                        <a:rPr lang="en-US" sz="2800" b="0" i="1" smtClean="0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𝐹</m:t>
                      </m:r>
                      <m:sSub>
                        <m:sSubPr>
                          <m:ctrlPr>
                            <a:rPr lang="en-US" sz="2800" b="0" i="1" smtClean="0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sz="2800" b="0" i="1" smtClean="0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𝐸</m:t>
                          </m:r>
                        </m:e>
                        <m:sub>
                          <m:r>
                            <a:rPr lang="en-US" sz="2800" b="0" i="1" smtClean="0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𝑟</m:t>
                          </m:r>
                        </m:sub>
                      </m:sSub>
                      <m:r>
                        <a:rPr lang="en-US" sz="2800" b="0" i="1" smtClean="0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+</m:t>
                      </m:r>
                      <m:r>
                        <a:rPr lang="en-US" sz="2800" b="0" i="1" smtClean="0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𝜁</m:t>
                      </m:r>
                      <m:r>
                        <a:rPr lang="en-US" sz="2800" b="0" i="1" smtClean="0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𝐹</m:t>
                      </m:r>
                      <m:sSub>
                        <m:sSubPr>
                          <m:ctrlPr>
                            <a:rPr lang="en-US" sz="2800" b="0" i="1" smtClean="0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sz="2800" b="0" i="1" smtClean="0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𝐸</m:t>
                          </m:r>
                        </m:e>
                        <m:sub>
                          <m:r>
                            <a:rPr lang="en-US" sz="2800" b="0" i="1" smtClean="0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𝑟</m:t>
                          </m:r>
                        </m:sub>
                      </m:sSub>
                      <m:r>
                        <a:rPr lang="en-US" sz="2800" b="0" i="1" smtClean="0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+</m:t>
                      </m:r>
                      <m:sSub>
                        <m:sSubPr>
                          <m:ctrlPr>
                            <a:rPr lang="en-US" sz="2800" b="0" i="1" smtClean="0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sz="2800" i="1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𝜖</m:t>
                          </m:r>
                        </m:e>
                        <m:sub>
                          <m:r>
                            <a:rPr lang="en-US" sz="2800" b="0" i="1" smtClean="0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𝑖𝑞𝑟</m:t>
                          </m:r>
                        </m:sub>
                      </m:sSub>
                    </m:oMath>
                  </m:oMathPara>
                </a14:m>
                <a:endParaRPr lang="en-DE" sz="2800" dirty="0"/>
              </a:p>
            </p:txBody>
          </p:sp>
        </mc:Choice>
        <mc:Fallback>
          <p:sp>
            <p:nvSpPr>
              <p:cNvPr id="8" name="TextBox 7">
                <a:extLst>
                  <a:ext uri="{FF2B5EF4-FFF2-40B4-BE49-F238E27FC236}">
                    <a16:creationId xmlns:a16="http://schemas.microsoft.com/office/drawing/2014/main" id="{ED5C3026-FAD4-C1BA-8AC6-1698827C2EEC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694931" y="3188132"/>
                <a:ext cx="10802137" cy="481735"/>
              </a:xfrm>
              <a:prstGeom prst="rect">
                <a:avLst/>
              </a:prstGeom>
              <a:blipFill>
                <a:blip r:embed="rId3"/>
                <a:stretch>
                  <a:fillRect t="-2632" b="-28947"/>
                </a:stretch>
              </a:blipFill>
            </p:spPr>
            <p:txBody>
              <a:bodyPr/>
              <a:lstStyle/>
              <a:p>
                <a:r>
                  <a:rPr lang="en-DE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>
        <mc:Choice xmlns:a14="http://schemas.microsoft.com/office/drawing/2010/main" Requires="a14">
          <p:sp>
            <p:nvSpPr>
              <p:cNvPr id="9" name="TextBox 8">
                <a:extLst>
                  <a:ext uri="{FF2B5EF4-FFF2-40B4-BE49-F238E27FC236}">
                    <a16:creationId xmlns:a16="http://schemas.microsoft.com/office/drawing/2014/main" id="{845AB321-CCC9-72F5-B2F1-9B5814AC5216}"/>
                  </a:ext>
                </a:extLst>
              </p:cNvPr>
              <p:cNvSpPr txBox="1"/>
              <p:nvPr/>
            </p:nvSpPr>
            <p:spPr>
              <a:xfrm>
                <a:off x="170033" y="6419692"/>
                <a:ext cx="4520340" cy="276999"/>
              </a:xfrm>
              <a:prstGeom prst="rect">
                <a:avLst/>
              </a:prstGeom>
              <a:noFill/>
            </p:spPr>
            <p:txBody>
              <a:bodyPr wrap="none" lIns="0" tIns="0" rIns="0" bIns="0" rtlCol="0">
                <a:spAutoFit/>
              </a:bodyPr>
              <a:lstStyle/>
              <a:p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b="0" i="1" smtClean="0">
                          <a:latin typeface="Cambria Math" panose="02040503050406030204" pitchFamily="18" charset="0"/>
                        </a:rPr>
                        <m:t>𝑐𝑜𝑛𝑡𝑟𝑜𝑙𝑠</m:t>
                      </m:r>
                      <m:r>
                        <a:rPr lang="en-US" b="0" i="1" smtClean="0">
                          <a:latin typeface="Cambria Math" panose="02040503050406030204" pitchFamily="18" charset="0"/>
                        </a:rPr>
                        <m:t>=</m:t>
                      </m:r>
                      <m:r>
                        <a:rPr lang="en-US" b="0" i="1" smtClean="0">
                          <a:latin typeface="Cambria Math" panose="02040503050406030204" pitchFamily="18" charset="0"/>
                        </a:rPr>
                        <m:t>𝑎𝑔𝑒</m:t>
                      </m:r>
                      <m:r>
                        <a:rPr lang="en-US" b="0" i="1" smtClean="0">
                          <a:latin typeface="Cambria Math" panose="02040503050406030204" pitchFamily="18" charset="0"/>
                        </a:rPr>
                        <m:t>,</m:t>
                      </m:r>
                      <m:r>
                        <a:rPr lang="en-US" b="0" i="1" smtClean="0">
                          <a:latin typeface="Cambria Math" panose="02040503050406030204" pitchFamily="18" charset="0"/>
                        </a:rPr>
                        <m:t>𝑔𝑒𝑛𝑑𝑒𝑟</m:t>
                      </m:r>
                      <m:r>
                        <a:rPr lang="en-US" b="0" i="1" smtClean="0">
                          <a:latin typeface="Cambria Math" panose="02040503050406030204" pitchFamily="18" charset="0"/>
                        </a:rPr>
                        <m:t>,</m:t>
                      </m:r>
                      <m:r>
                        <a:rPr lang="en-US" b="0" i="1" smtClean="0">
                          <a:latin typeface="Cambria Math" panose="02040503050406030204" pitchFamily="18" charset="0"/>
                        </a:rPr>
                        <m:t>𝑦𝑒𝑎𝑟𝑠</m:t>
                      </m:r>
                      <m:r>
                        <a:rPr lang="en-US" b="0" i="1" smtClean="0">
                          <a:latin typeface="Cambria Math" panose="02040503050406030204" pitchFamily="18" charset="0"/>
                        </a:rPr>
                        <m:t> </m:t>
                      </m:r>
                      <m:r>
                        <a:rPr lang="en-US" b="0" i="1" smtClean="0">
                          <a:latin typeface="Cambria Math" panose="02040503050406030204" pitchFamily="18" charset="0"/>
                        </a:rPr>
                        <m:t>𝑜𝑓</m:t>
                      </m:r>
                      <m:r>
                        <a:rPr lang="en-US" b="0" i="1" smtClean="0">
                          <a:latin typeface="Cambria Math" panose="02040503050406030204" pitchFamily="18" charset="0"/>
                        </a:rPr>
                        <m:t> </m:t>
                      </m:r>
                      <m:r>
                        <a:rPr lang="en-US" b="0" i="1" smtClean="0">
                          <a:latin typeface="Cambria Math" panose="02040503050406030204" pitchFamily="18" charset="0"/>
                        </a:rPr>
                        <m:t>𝑒𝑑𝑢𝑐𝑎𝑡𝑖𝑜𝑛</m:t>
                      </m:r>
                    </m:oMath>
                  </m:oMathPara>
                </a14:m>
                <a:endParaRPr lang="en-DE" dirty="0"/>
              </a:p>
            </p:txBody>
          </p:sp>
        </mc:Choice>
        <mc:Fallback>
          <p:sp>
            <p:nvSpPr>
              <p:cNvPr id="9" name="TextBox 8">
                <a:extLst>
                  <a:ext uri="{FF2B5EF4-FFF2-40B4-BE49-F238E27FC236}">
                    <a16:creationId xmlns:a16="http://schemas.microsoft.com/office/drawing/2014/main" id="{845AB321-CCC9-72F5-B2F1-9B5814AC5216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170033" y="6419692"/>
                <a:ext cx="4520340" cy="276999"/>
              </a:xfrm>
              <a:prstGeom prst="rect">
                <a:avLst/>
              </a:prstGeom>
              <a:blipFill>
                <a:blip r:embed="rId4"/>
                <a:stretch>
                  <a:fillRect l="-840" t="-8696" r="-560" b="-34783"/>
                </a:stretch>
              </a:blipFill>
            </p:spPr>
            <p:txBody>
              <a:bodyPr/>
              <a:lstStyle/>
              <a:p>
                <a:r>
                  <a:rPr lang="en-DE">
                    <a:noFill/>
                  </a:rPr>
                  <a:t> </a:t>
                </a:r>
              </a:p>
            </p:txBody>
          </p:sp>
        </mc:Fallback>
      </mc:AlternateContent>
      <p:pic>
        <p:nvPicPr>
          <p:cNvPr id="10" name="Picture 9">
            <a:extLst>
              <a:ext uri="{FF2B5EF4-FFF2-40B4-BE49-F238E27FC236}">
                <a16:creationId xmlns:a16="http://schemas.microsoft.com/office/drawing/2014/main" id="{F925DCFB-101D-B869-DBAF-CEA34B949AF2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9433056" y="4151955"/>
            <a:ext cx="2758944" cy="2758944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44925590"/>
      </p:ext>
    </p:extLst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2FED652F-BD4D-ED46-0E6D-6FA8DE96A9A2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5" name="Picture 4" descr="A graph on a black background&#10;&#10;AI-generated content may be incorrect.">
            <a:extLst>
              <a:ext uri="{FF2B5EF4-FFF2-40B4-BE49-F238E27FC236}">
                <a16:creationId xmlns:a16="http://schemas.microsoft.com/office/drawing/2014/main" id="{B862901F-274B-49BA-0CA1-F4DEB9BCD693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676715" y="162733"/>
            <a:ext cx="8838570" cy="6532534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841117719"/>
      </p:ext>
    </p:extLst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15B6B3E9-FAEB-19E9-B202-E5907696B169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" name="Picture 2" descr="A screen shot of a graph&#10;&#10;AI-generated content may be incorrect.">
            <a:extLst>
              <a:ext uri="{FF2B5EF4-FFF2-40B4-BE49-F238E27FC236}">
                <a16:creationId xmlns:a16="http://schemas.microsoft.com/office/drawing/2014/main" id="{D27ECE07-846D-1FE1-9530-E24CEA8FB3EC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970179" y="379631"/>
            <a:ext cx="8251641" cy="6098738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942053188"/>
      </p:ext>
    </p:extLst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8" name="Picture 7" descr="A graph of different colored rectangular shapes&#10;&#10;AI-generated content may be incorrect.">
            <a:extLst>
              <a:ext uri="{FF2B5EF4-FFF2-40B4-BE49-F238E27FC236}">
                <a16:creationId xmlns:a16="http://schemas.microsoft.com/office/drawing/2014/main" id="{00BF3EEA-86F6-5A2B-8AEF-50E3F97A2B50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396079" y="121744"/>
            <a:ext cx="8949487" cy="6614512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150516757"/>
      </p:ext>
    </p:extLst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D9038F16-A74B-D157-7A79-31BC30588C8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54A786B3-B22A-C475-B8C6-4B02A5EBA9D3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DE" dirty="0"/>
              <a:t>Verdict &amp; Hypothesis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ADCBA40C-CD97-B539-5821-26C7CFB800B5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DE" dirty="0"/>
              <a:t>We see that people do not engage in motivated reasoning when receiving good news, they hold their beliefs  </a:t>
            </a:r>
          </a:p>
          <a:p>
            <a:pPr lvl="1"/>
            <a:r>
              <a:rPr lang="en-GB" dirty="0"/>
              <a:t>Motivated reasoning does not arise from wanting the world to be good.</a:t>
            </a:r>
            <a:br>
              <a:rPr lang="en-GB" dirty="0"/>
            </a:br>
            <a:r>
              <a:rPr lang="en-GB" dirty="0"/>
              <a:t>It arises when beliefs serve identity, ego, or strategic function.</a:t>
            </a:r>
            <a:endParaRPr lang="en-DE" dirty="0"/>
          </a:p>
        </p:txBody>
      </p:sp>
    </p:spTree>
    <p:extLst>
      <p:ext uri="{BB962C8B-B14F-4D97-AF65-F5344CB8AC3E}">
        <p14:creationId xmlns:p14="http://schemas.microsoft.com/office/powerpoint/2010/main" val="330628484"/>
      </p:ext>
    </p:extLst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 Them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538D9D"/>
      </a:hlink>
      <a:folHlink>
        <a:srgbClr val="A5738E"/>
      </a:folHlink>
    </a:clrScheme>
    <a:fontScheme name="Office Them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 Them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3A418E6B-C5F0-4B95-8D77-61E3EF3B5DF5}"/>
    </a:ext>
  </a:extLst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emplate>Office Theme</Template>
  <TotalTime>5973</TotalTime>
  <Words>463</Words>
  <Application>Microsoft Macintosh PowerPoint</Application>
  <PresentationFormat>Widescreen</PresentationFormat>
  <Paragraphs>60</Paragraphs>
  <Slides>11</Slides>
  <Notes>11</Notes>
  <HiddenSlides>0</HiddenSlides>
  <MMClips>0</MMClips>
  <ScaleCrop>false</ScaleCrop>
  <HeadingPairs>
    <vt:vector size="6" baseType="variant">
      <vt:variant>
        <vt:lpstr>Fonts Used</vt:lpstr>
      </vt:variant>
      <vt:variant>
        <vt:i4>4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11</vt:i4>
      </vt:variant>
    </vt:vector>
  </HeadingPairs>
  <TitlesOfParts>
    <vt:vector size="16" baseType="lpstr">
      <vt:lpstr>Aptos</vt:lpstr>
      <vt:lpstr>Aptos Display</vt:lpstr>
      <vt:lpstr>Arial</vt:lpstr>
      <vt:lpstr>Cambria Math</vt:lpstr>
      <vt:lpstr>Office Theme</vt:lpstr>
      <vt:lpstr>Trusting the Good News</vt:lpstr>
      <vt:lpstr>Research Question Details</vt:lpstr>
      <vt:lpstr>Question</vt:lpstr>
      <vt:lpstr>Feedback</vt:lpstr>
      <vt:lpstr>Guessing  Probability</vt:lpstr>
      <vt:lpstr>Experiment Setup Explain</vt:lpstr>
      <vt:lpstr>Regression Specifications</vt:lpstr>
      <vt:lpstr>PowerPoint Presentation</vt:lpstr>
      <vt:lpstr>PowerPoint Presentation</vt:lpstr>
      <vt:lpstr>PowerPoint Presentation</vt:lpstr>
      <vt:lpstr>Verdict &amp; Hypothesis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creator>Manuel Lehé</dc:creator>
  <cp:lastModifiedBy>Manuel Lehé</cp:lastModifiedBy>
  <cp:revision>10</cp:revision>
  <dcterms:created xsi:type="dcterms:W3CDTF">2026-01-28T18:21:55Z</dcterms:created>
  <dcterms:modified xsi:type="dcterms:W3CDTF">2026-02-02T20:18:29Z</dcterms:modified>
</cp:coreProperties>
</file>